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rect"/>
          <p:cNvSpPr/>
          <p:nvPr/>
        </p:nvSpPr>
        <p:spPr>
          <a:xfrm>
            <a:off x="731520" y="914400"/>
            <a:ext cx="10698480" cy="4846320"/>
          </a:xfrm>
          <a:prstGeom prst="roundRect">
            <a:avLst/>
          </a:prstGeom>
          <a:solidFill>
            <a:srgbClr val="111A2F"/>
          </a:solidFill>
          <a:ln w="12700">
            <a:solidFill>
              <a:srgbClr val="315A96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1051560" y="141732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34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3400" b="1">
                <a:solidFill>
                  <a:srgbClr val="FFFFFF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3400"/>
          </a:p>
        </p:txBody>
      </p:sp>
      <p:sp>
        <p:nvSpPr>
          <p:cNvPr id="9" name="text"/>
          <p:cNvSpPr txBox="1"/>
          <p:nvPr/>
        </p:nvSpPr>
        <p:spPr>
          <a:xfrm>
            <a:off x="1325880" y="2240280"/>
            <a:ext cx="94183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16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600" b="1">
                <a:solidFill>
                  <a:srgbClr val="80E8FF"/>
                </a:solidFill>
                <a:latin typeface="Microsoft YaHei"/>
                <a:ea typeface="Microsoft YaHei"/>
              </a:rPr>
              <a:t>从小说文本到 AI Storyboard、镜头级视频生成与成片导出的生产闭环</a:t>
            </a:r>
            <a:endParaRPr lang="zh-CN" sz="1600"/>
          </a:p>
        </p:txBody>
      </p:sp>
      <p:sp>
        <p:nvSpPr>
          <p:cNvPr id="10" name="rect"/>
          <p:cNvSpPr/>
          <p:nvPr/>
        </p:nvSpPr>
        <p:spPr>
          <a:xfrm>
            <a:off x="109728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207007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📖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719072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小说文本</a:t>
            </a:r>
            <a:endParaRPr lang="zh-CN" sz="1300"/>
          </a:p>
        </p:txBody>
      </p:sp>
      <p:sp>
        <p:nvSpPr>
          <p:cNvPr id="13" name="arrow"/>
          <p:cNvSpPr/>
          <p:nvPr/>
        </p:nvSpPr>
        <p:spPr>
          <a:xfrm>
            <a:off x="2542032" y="3383280"/>
            <a:ext cx="347472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14" name="rect"/>
          <p:cNvSpPr/>
          <p:nvPr/>
        </p:nvSpPr>
        <p:spPr>
          <a:xfrm>
            <a:off x="288036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2990088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✍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3502152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剧本</a:t>
            </a:r>
            <a:endParaRPr lang="zh-CN" sz="1300"/>
          </a:p>
        </p:txBody>
      </p:sp>
      <p:sp>
        <p:nvSpPr>
          <p:cNvPr id="17" name="arrow"/>
          <p:cNvSpPr/>
          <p:nvPr/>
        </p:nvSpPr>
        <p:spPr>
          <a:xfrm>
            <a:off x="4325112" y="3383280"/>
            <a:ext cx="347472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18" name="rect"/>
          <p:cNvSpPr/>
          <p:nvPr/>
        </p:nvSpPr>
        <p:spPr>
          <a:xfrm>
            <a:off x="466344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4773168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🧩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5285231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资产卡</a:t>
            </a:r>
            <a:endParaRPr lang="zh-CN" sz="1300"/>
          </a:p>
        </p:txBody>
      </p:sp>
      <p:sp>
        <p:nvSpPr>
          <p:cNvPr id="21" name="arrow"/>
          <p:cNvSpPr/>
          <p:nvPr/>
        </p:nvSpPr>
        <p:spPr>
          <a:xfrm>
            <a:off x="6108192" y="3383280"/>
            <a:ext cx="347472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2" name="rect"/>
          <p:cNvSpPr/>
          <p:nvPr/>
        </p:nvSpPr>
        <p:spPr>
          <a:xfrm>
            <a:off x="644652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6556248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🎞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7068312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Storyboard</a:t>
            </a:r>
            <a:endParaRPr lang="zh-CN" sz="1300"/>
          </a:p>
        </p:txBody>
      </p:sp>
      <p:sp>
        <p:nvSpPr>
          <p:cNvPr id="25" name="arrow"/>
          <p:cNvSpPr/>
          <p:nvPr/>
        </p:nvSpPr>
        <p:spPr>
          <a:xfrm>
            <a:off x="7891271" y="3383280"/>
            <a:ext cx="347472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6" name="rect"/>
          <p:cNvSpPr/>
          <p:nvPr/>
        </p:nvSpPr>
        <p:spPr>
          <a:xfrm>
            <a:off x="822960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339327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▶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8851392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视频生成</a:t>
            </a:r>
            <a:endParaRPr lang="zh-CN" sz="1300"/>
          </a:p>
        </p:txBody>
      </p:sp>
      <p:sp>
        <p:nvSpPr>
          <p:cNvPr id="29" name="arrow"/>
          <p:cNvSpPr/>
          <p:nvPr/>
        </p:nvSpPr>
        <p:spPr>
          <a:xfrm>
            <a:off x="9674352" y="3383280"/>
            <a:ext cx="347472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30" name="rect"/>
          <p:cNvSpPr/>
          <p:nvPr/>
        </p:nvSpPr>
        <p:spPr>
          <a:xfrm>
            <a:off x="10012680" y="3154680"/>
            <a:ext cx="1417320" cy="749808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10122407" y="32461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🎬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10634472" y="326440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成片导出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1143000" y="4709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1300" b="0">
                <a:solidFill>
                  <a:srgbClr val="C7D2EE"/>
                </a:solidFill>
                <a:latin typeface="Microsoft YaHei"/>
                <a:ea typeface="Microsoft YaHei"/>
              </a:rPr>
              <a:t>面向影视动漫 / 短剧 / 漫剧内容生产</a:t>
            </a:r>
            <a:endParaRPr lang="zh-CN" sz="1300"/>
          </a:p>
        </p:txBody>
      </p:sp>
      <p:sp>
        <p:nvSpPr>
          <p:cNvPr id="34" name="text"/>
          <p:cNvSpPr txBox="1"/>
          <p:nvPr/>
        </p:nvSpPr>
        <p:spPr>
          <a:xfrm>
            <a:off x="6400800" y="47091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2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1200" b="0">
                <a:solidFill>
                  <a:srgbClr val="C7D2EE"/>
                </a:solidFill>
                <a:latin typeface="Microsoft YaHei"/>
                <a:ea typeface="Microsoft YaHei"/>
              </a:rPr>
              <a:t>汇报人：XXX　日期：XXXX 年 XX 月 XX 日</a:t>
            </a:r>
            <a:endParaRPr lang="zh-CN" sz="1200"/>
          </a:p>
        </p:txBody>
      </p:sp>
      <p:sp>
        <p:nvSpPr>
          <p:cNvPr id="35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6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</a:t>
            </a:r>
            <a:endParaRPr lang="zh-CN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我们建议建设一套“AI 内容工业化平台”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一句话结论：把影视动漫生产经验沉淀为结构化、可审核、可复用的 AI 生产流程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02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2528316" cy="1143000"/>
          </a:xfrm>
          <a:prstGeom prst="roundRect">
            <a:avLst/>
          </a:prstGeom>
          <a:solidFill>
            <a:srgbClr val="1E3155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📖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177850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输入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2199132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小说文本 / 剧本 / 故事梗概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3470148" y="1325880"/>
            <a:ext cx="2528316" cy="1143000"/>
          </a:xfrm>
          <a:prstGeom prst="roundRect">
            <a:avLst/>
          </a:prstGeom>
          <a:solidFill>
            <a:srgbClr val="243A65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3579876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🧩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4091939" y="1435607"/>
            <a:ext cx="177850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中间层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3634740" y="1828800"/>
            <a:ext cx="2199132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剧本、角色卡、场景卡、风格卡、Storyboard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6254496" y="1325880"/>
            <a:ext cx="2528316" cy="1143000"/>
          </a:xfrm>
          <a:prstGeom prst="roundRect">
            <a:avLst/>
          </a:prstGeom>
          <a:solidFill>
            <a:srgbClr val="294477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6364224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⚙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6876288" y="1435607"/>
            <a:ext cx="177850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6419088" y="1828800"/>
            <a:ext cx="2199132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关键帧、参考图、视频片段、配音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9038844" y="1325880"/>
            <a:ext cx="2528316" cy="1143000"/>
          </a:xfrm>
          <a:prstGeom prst="roundRect">
            <a:avLst/>
          </a:prstGeom>
          <a:solidFill>
            <a:srgbClr val="1D4D63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914857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🗂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9660636" y="1435607"/>
            <a:ext cx="177850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沉淀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9203436" y="1828800"/>
            <a:ext cx="2199132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项目资产库、提示词、参数、审核记录</a:t>
            </a:r>
            <a:endParaRPr lang="zh-CN" sz="900"/>
          </a:p>
        </p:txBody>
      </p:sp>
      <p:sp>
        <p:nvSpPr>
          <p:cNvPr id="26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27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2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AI 正在进入影视动漫内容生产的核心链路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行业背景：从纯人工经验驱动，走向创作者主导 + AI 驱动生产 + 平台化管理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03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T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文本大模型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小说理解、剧情拆解、剧本改写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43A65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I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角色图、场景图、风格图、关键帧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94477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V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视频生成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镜头级视频片段、首帧/首尾帧控制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1D4D63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A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语音合成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角色配音、旁白、声音测试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0395B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E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自动剪辑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字幕、拼接、预览、基础后期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63B5E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P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平台管理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项目、资产、版本、成本、审核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3</a:t>
            </a:r>
            <a:endParaRPr lang="zh-CN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当前内容生产链路存在明显效率瓶颈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传统流程长、协作岗位多、经验依赖强，缺少统一结构和资产沉淀机制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04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1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前期拆解慢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小说/故事到可制作内容周期长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2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沟通成本高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编剧、美术、导演、后期反复对齐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3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设定反复改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角色、场景、风格难稳定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4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流程割裂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分镜、图像、视频生成缺少统一结构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5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资产难复用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角色、道具、提示词散落在个人手里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6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经验难沉淀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项目经验依赖个人，难以标准化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4</a:t>
            </a:r>
            <a:endParaRPr lang="zh-CN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单句提示词生成视频，不适合工业化内容生产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一句 Prompt 可以做 Demo，但难以支撑连续叙事、多镜头一致性和可修改流程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05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1920240" cy="621792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2697480" y="1417320"/>
            <a:ext cx="4114800" cy="621792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2734056" y="1463040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具体表现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6812280" y="1417320"/>
            <a:ext cx="4114800" cy="621792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848856" y="1463040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平台化应对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777240" y="2039112"/>
            <a:ext cx="192024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3816" y="2084831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叙事不稳定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2697480" y="2039112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2734056" y="2084831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镜头之间缺少连贯剧情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6812280" y="2039112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848856" y="2084831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先生成剧本与 Storyboard</a:t>
            </a:r>
            <a:endParaRPr lang="zh-CN" sz="800"/>
          </a:p>
        </p:txBody>
      </p:sp>
      <p:sp>
        <p:nvSpPr>
          <p:cNvPr id="22" name="rect"/>
          <p:cNvSpPr/>
          <p:nvPr/>
        </p:nvSpPr>
        <p:spPr>
          <a:xfrm>
            <a:off x="777240" y="2660904"/>
            <a:ext cx="192024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2706624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角色不一致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2697480" y="2660904"/>
            <a:ext cx="411480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2734056" y="2706624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人脸、服装、年龄、气质变化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6812280" y="2660904"/>
            <a:ext cx="411480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6848856" y="2706624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角色卡 + 参考图约束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777240" y="3282696"/>
            <a:ext cx="192024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813816" y="3328415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场景漂移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2697480" y="3282696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2734056" y="3328415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同一空间在不同镜头中变化</a:t>
            </a:r>
            <a:endParaRPr lang="zh-CN" sz="900"/>
          </a:p>
        </p:txBody>
      </p:sp>
      <p:sp>
        <p:nvSpPr>
          <p:cNvPr id="32" name="rect"/>
          <p:cNvSpPr/>
          <p:nvPr/>
        </p:nvSpPr>
        <p:spPr>
          <a:xfrm>
            <a:off x="6812280" y="3282696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6848856" y="3328415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场景卡 + 不可变元素</a:t>
            </a:r>
            <a:endParaRPr lang="zh-CN" sz="900"/>
          </a:p>
        </p:txBody>
      </p:sp>
      <p:sp>
        <p:nvSpPr>
          <p:cNvPr id="34" name="rect"/>
          <p:cNvSpPr/>
          <p:nvPr/>
        </p:nvSpPr>
        <p:spPr>
          <a:xfrm>
            <a:off x="777240" y="3904488"/>
            <a:ext cx="192024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3950208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风格不统一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2697480" y="3904488"/>
            <a:ext cx="411480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2734056" y="3950208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色彩、光影、材质不连续</a:t>
            </a:r>
            <a:endParaRPr lang="zh-CN" sz="900"/>
          </a:p>
        </p:txBody>
      </p:sp>
      <p:sp>
        <p:nvSpPr>
          <p:cNvPr id="38" name="rect"/>
          <p:cNvSpPr/>
          <p:nvPr/>
        </p:nvSpPr>
        <p:spPr>
          <a:xfrm>
            <a:off x="6812280" y="3904488"/>
            <a:ext cx="4114800" cy="62179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6848856" y="3950208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风格卡 + 负向提示词</a:t>
            </a:r>
            <a:endParaRPr lang="zh-CN" sz="900"/>
          </a:p>
        </p:txBody>
      </p:sp>
      <p:sp>
        <p:nvSpPr>
          <p:cNvPr id="40" name="rect"/>
          <p:cNvSpPr/>
          <p:nvPr/>
        </p:nvSpPr>
        <p:spPr>
          <a:xfrm>
            <a:off x="777240" y="4526280"/>
            <a:ext cx="192024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813816" y="4572000"/>
            <a:ext cx="184708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修改困难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2697480" y="4526280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2734056" y="4572000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不知道改提示词、图像还是视频</a:t>
            </a:r>
            <a:endParaRPr lang="zh-CN" sz="900"/>
          </a:p>
        </p:txBody>
      </p:sp>
      <p:sp>
        <p:nvSpPr>
          <p:cNvPr id="44" name="rect"/>
          <p:cNvSpPr/>
          <p:nvPr/>
        </p:nvSpPr>
        <p:spPr>
          <a:xfrm>
            <a:off x="6812280" y="4526280"/>
            <a:ext cx="4114800" cy="62179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6848856" y="4572000"/>
            <a:ext cx="4041648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镜头级任务 + 版本管理</a:t>
            </a:r>
            <a:endParaRPr lang="zh-CN" sz="900"/>
          </a:p>
        </p:txBody>
      </p:sp>
      <p:sp>
        <p:nvSpPr>
          <p:cNvPr id="46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47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5</a:t>
            </a:r>
            <a:endParaRPr lang="zh-CN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平台核心思路：先结构化，再调用 AI 生成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把剧情、人物、场景、风格和镜头先结构化，用中间层约束后续生成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06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594360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04088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📖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216152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小说文本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758952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输入</a:t>
            </a:r>
            <a:endParaRPr lang="zh-CN" sz="900"/>
          </a:p>
        </p:txBody>
      </p:sp>
      <p:sp>
        <p:nvSpPr>
          <p:cNvPr id="14" name="arrow"/>
          <p:cNvSpPr/>
          <p:nvPr/>
        </p:nvSpPr>
        <p:spPr>
          <a:xfrm>
            <a:off x="2066544" y="253288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15" name="rect"/>
          <p:cNvSpPr/>
          <p:nvPr/>
        </p:nvSpPr>
        <p:spPr>
          <a:xfrm>
            <a:off x="2450592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2560320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AI</a:t>
            </a:r>
            <a:endParaRPr lang="zh-CN" sz="2200"/>
          </a:p>
        </p:txBody>
      </p:sp>
      <p:sp>
        <p:nvSpPr>
          <p:cNvPr id="17" name="text"/>
          <p:cNvSpPr txBox="1"/>
          <p:nvPr/>
        </p:nvSpPr>
        <p:spPr>
          <a:xfrm>
            <a:off x="3072384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剧情分析</a:t>
            </a:r>
            <a:endParaRPr lang="zh-CN" sz="1300"/>
          </a:p>
        </p:txBody>
      </p:sp>
      <p:sp>
        <p:nvSpPr>
          <p:cNvPr id="18" name="text"/>
          <p:cNvSpPr txBox="1"/>
          <p:nvPr/>
        </p:nvSpPr>
        <p:spPr>
          <a:xfrm>
            <a:off x="2615184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结构化</a:t>
            </a:r>
            <a:endParaRPr lang="zh-CN" sz="900"/>
          </a:p>
        </p:txBody>
      </p:sp>
      <p:sp>
        <p:nvSpPr>
          <p:cNvPr id="19" name="arrow"/>
          <p:cNvSpPr/>
          <p:nvPr/>
        </p:nvSpPr>
        <p:spPr>
          <a:xfrm>
            <a:off x="3922776" y="253288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0" name="rect"/>
          <p:cNvSpPr/>
          <p:nvPr/>
        </p:nvSpPr>
        <p:spPr>
          <a:xfrm>
            <a:off x="4306824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416552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✍</a:t>
            </a:r>
            <a:endParaRPr lang="zh-CN" sz="2200"/>
          </a:p>
        </p:txBody>
      </p:sp>
      <p:sp>
        <p:nvSpPr>
          <p:cNvPr id="22" name="text"/>
          <p:cNvSpPr txBox="1"/>
          <p:nvPr/>
        </p:nvSpPr>
        <p:spPr>
          <a:xfrm>
            <a:off x="4928616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剧本改写</a:t>
            </a:r>
            <a:endParaRPr lang="zh-CN" sz="1300"/>
          </a:p>
        </p:txBody>
      </p:sp>
      <p:sp>
        <p:nvSpPr>
          <p:cNvPr id="23" name="text"/>
          <p:cNvSpPr txBox="1"/>
          <p:nvPr/>
        </p:nvSpPr>
        <p:spPr>
          <a:xfrm>
            <a:off x="4471416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可编辑</a:t>
            </a:r>
            <a:endParaRPr lang="zh-CN" sz="900"/>
          </a:p>
        </p:txBody>
      </p:sp>
      <p:sp>
        <p:nvSpPr>
          <p:cNvPr id="24" name="arrow"/>
          <p:cNvSpPr/>
          <p:nvPr/>
        </p:nvSpPr>
        <p:spPr>
          <a:xfrm>
            <a:off x="5779008" y="253288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5" name="rect"/>
          <p:cNvSpPr/>
          <p:nvPr/>
        </p:nvSpPr>
        <p:spPr>
          <a:xfrm>
            <a:off x="6163056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6272784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🧩</a:t>
            </a:r>
            <a:endParaRPr lang="zh-CN" sz="2200"/>
          </a:p>
        </p:txBody>
      </p:sp>
      <p:sp>
        <p:nvSpPr>
          <p:cNvPr id="27" name="text"/>
          <p:cNvSpPr txBox="1"/>
          <p:nvPr/>
        </p:nvSpPr>
        <p:spPr>
          <a:xfrm>
            <a:off x="6784848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资产卡</a:t>
            </a:r>
            <a:endParaRPr lang="zh-CN" sz="1300"/>
          </a:p>
        </p:txBody>
      </p:sp>
      <p:sp>
        <p:nvSpPr>
          <p:cNvPr id="28" name="text"/>
          <p:cNvSpPr txBox="1"/>
          <p:nvPr/>
        </p:nvSpPr>
        <p:spPr>
          <a:xfrm>
            <a:off x="6327648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一致性</a:t>
            </a:r>
            <a:endParaRPr lang="zh-CN" sz="900"/>
          </a:p>
        </p:txBody>
      </p:sp>
      <p:sp>
        <p:nvSpPr>
          <p:cNvPr id="29" name="arrow"/>
          <p:cNvSpPr/>
          <p:nvPr/>
        </p:nvSpPr>
        <p:spPr>
          <a:xfrm>
            <a:off x="7635240" y="253288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30" name="rect"/>
          <p:cNvSpPr/>
          <p:nvPr/>
        </p:nvSpPr>
        <p:spPr>
          <a:xfrm>
            <a:off x="8019288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129016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🎞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641080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Storyboard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183880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镜头级</a:t>
            </a:r>
            <a:endParaRPr lang="zh-CN" sz="900"/>
          </a:p>
        </p:txBody>
      </p:sp>
      <p:sp>
        <p:nvSpPr>
          <p:cNvPr id="34" name="arrow"/>
          <p:cNvSpPr/>
          <p:nvPr/>
        </p:nvSpPr>
        <p:spPr>
          <a:xfrm>
            <a:off x="9491472" y="253288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35" name="rect"/>
          <p:cNvSpPr/>
          <p:nvPr/>
        </p:nvSpPr>
        <p:spPr>
          <a:xfrm>
            <a:off x="9875520" y="214884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36" name="text"/>
          <p:cNvSpPr txBox="1"/>
          <p:nvPr/>
        </p:nvSpPr>
        <p:spPr>
          <a:xfrm>
            <a:off x="9985248" y="224028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▶</a:t>
            </a:r>
            <a:endParaRPr lang="zh-CN" sz="2200"/>
          </a:p>
        </p:txBody>
      </p:sp>
      <p:sp>
        <p:nvSpPr>
          <p:cNvPr id="37" name="text"/>
          <p:cNvSpPr txBox="1"/>
          <p:nvPr/>
        </p:nvSpPr>
        <p:spPr>
          <a:xfrm>
            <a:off x="10497312" y="225856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视频生成</a:t>
            </a:r>
            <a:endParaRPr lang="zh-CN" sz="1300"/>
          </a:p>
        </p:txBody>
      </p:sp>
      <p:sp>
        <p:nvSpPr>
          <p:cNvPr id="38" name="text"/>
          <p:cNvSpPr txBox="1"/>
          <p:nvPr/>
        </p:nvSpPr>
        <p:spPr>
          <a:xfrm>
            <a:off x="10040112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候选片段</a:t>
            </a:r>
            <a:endParaRPr lang="zh-CN" sz="900"/>
          </a:p>
        </p:txBody>
      </p:sp>
      <p:sp>
        <p:nvSpPr>
          <p:cNvPr id="39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40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6</a:t>
            </a:r>
            <a:endParaRPr lang="zh-CN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项目定位：AI 内容工业化平台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不是工具堆叠，而是围绕生产流程建设可管理、可审核、可复用的平台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07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63040"/>
            <a:ext cx="5029200" cy="713232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508760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不是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5806440" y="1463040"/>
            <a:ext cx="5029200" cy="713232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843016" y="1508760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而是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777240" y="2176272"/>
            <a:ext cx="5029200" cy="71323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13816" y="2221991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不是单一 AI 工具集合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5806440" y="2176272"/>
            <a:ext cx="5029200" cy="71323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5843016" y="2221991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围绕影视动漫生产流程的平台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777240" y="2889504"/>
            <a:ext cx="5029200" cy="71323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13816" y="2935224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不是一次性生成成片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5806440" y="2889504"/>
            <a:ext cx="5029200" cy="71323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5843016" y="2935224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镜头级、版本化、可审核生产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77240" y="3602736"/>
            <a:ext cx="5029200" cy="71323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364845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不是只保存结果文件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5806440" y="3602736"/>
            <a:ext cx="5029200" cy="713232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5843016" y="364845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沉淀角色、场景、提示词和参数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777240" y="4315968"/>
            <a:ext cx="5029200" cy="71323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13816" y="436168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不是完全自动化黑盒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5806440" y="4315968"/>
            <a:ext cx="5029200" cy="713232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5843016" y="4361688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AI 生成 + 人工确认 + 版本保存</a:t>
            </a:r>
            <a:endParaRPr lang="zh-CN" sz="800"/>
          </a:p>
        </p:txBody>
      </p:sp>
      <p:sp>
        <p:nvSpPr>
          <p:cNvPr id="30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1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7</a:t>
            </a:r>
            <a:endParaRPr lang="zh-CN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从小说到成片的完整生产闭环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输入小说文本，输出成片预览，并沉淀全过程资产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08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594360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04088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📖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216152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小说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758952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输入</a:t>
            </a:r>
            <a:endParaRPr lang="zh-CN" sz="900"/>
          </a:p>
        </p:txBody>
      </p:sp>
      <p:sp>
        <p:nvSpPr>
          <p:cNvPr id="14" name="arrow"/>
          <p:cNvSpPr/>
          <p:nvPr/>
        </p:nvSpPr>
        <p:spPr>
          <a:xfrm>
            <a:off x="2066544" y="212140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15" name="rect"/>
          <p:cNvSpPr/>
          <p:nvPr/>
        </p:nvSpPr>
        <p:spPr>
          <a:xfrm>
            <a:off x="2450592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16" name="text"/>
          <p:cNvSpPr txBox="1"/>
          <p:nvPr/>
        </p:nvSpPr>
        <p:spPr>
          <a:xfrm>
            <a:off x="2560320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AI</a:t>
            </a:r>
            <a:endParaRPr lang="zh-CN" sz="2200"/>
          </a:p>
        </p:txBody>
      </p:sp>
      <p:sp>
        <p:nvSpPr>
          <p:cNvPr id="17" name="text"/>
          <p:cNvSpPr txBox="1"/>
          <p:nvPr/>
        </p:nvSpPr>
        <p:spPr>
          <a:xfrm>
            <a:off x="3072384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分析</a:t>
            </a:r>
            <a:endParaRPr lang="zh-CN" sz="1300"/>
          </a:p>
        </p:txBody>
      </p:sp>
      <p:sp>
        <p:nvSpPr>
          <p:cNvPr id="18" name="text"/>
          <p:cNvSpPr txBox="1"/>
          <p:nvPr/>
        </p:nvSpPr>
        <p:spPr>
          <a:xfrm>
            <a:off x="2615184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梗概/人物/场景</a:t>
            </a:r>
            <a:endParaRPr lang="zh-CN" sz="900"/>
          </a:p>
        </p:txBody>
      </p:sp>
      <p:sp>
        <p:nvSpPr>
          <p:cNvPr id="19" name="arrow"/>
          <p:cNvSpPr/>
          <p:nvPr/>
        </p:nvSpPr>
        <p:spPr>
          <a:xfrm>
            <a:off x="3922776" y="212140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0" name="rect"/>
          <p:cNvSpPr/>
          <p:nvPr/>
        </p:nvSpPr>
        <p:spPr>
          <a:xfrm>
            <a:off x="4306824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416552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✍</a:t>
            </a:r>
            <a:endParaRPr lang="zh-CN" sz="2200"/>
          </a:p>
        </p:txBody>
      </p:sp>
      <p:sp>
        <p:nvSpPr>
          <p:cNvPr id="22" name="text"/>
          <p:cNvSpPr txBox="1"/>
          <p:nvPr/>
        </p:nvSpPr>
        <p:spPr>
          <a:xfrm>
            <a:off x="4928616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剧本</a:t>
            </a:r>
            <a:endParaRPr lang="zh-CN" sz="1300"/>
          </a:p>
        </p:txBody>
      </p:sp>
      <p:sp>
        <p:nvSpPr>
          <p:cNvPr id="23" name="text"/>
          <p:cNvSpPr txBox="1"/>
          <p:nvPr/>
        </p:nvSpPr>
        <p:spPr>
          <a:xfrm>
            <a:off x="4471416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分集/分场</a:t>
            </a:r>
            <a:endParaRPr lang="zh-CN" sz="900"/>
          </a:p>
        </p:txBody>
      </p:sp>
      <p:sp>
        <p:nvSpPr>
          <p:cNvPr id="24" name="arrow"/>
          <p:cNvSpPr/>
          <p:nvPr/>
        </p:nvSpPr>
        <p:spPr>
          <a:xfrm>
            <a:off x="5779008" y="212140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25" name="rect"/>
          <p:cNvSpPr/>
          <p:nvPr/>
        </p:nvSpPr>
        <p:spPr>
          <a:xfrm>
            <a:off x="6163056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6272784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🧩</a:t>
            </a:r>
            <a:endParaRPr lang="zh-CN" sz="2200"/>
          </a:p>
        </p:txBody>
      </p:sp>
      <p:sp>
        <p:nvSpPr>
          <p:cNvPr id="27" name="text"/>
          <p:cNvSpPr txBox="1"/>
          <p:nvPr/>
        </p:nvSpPr>
        <p:spPr>
          <a:xfrm>
            <a:off x="6784848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</a:t>
            </a:r>
            <a:endParaRPr lang="zh-CN" sz="1300"/>
          </a:p>
        </p:txBody>
      </p:sp>
      <p:sp>
        <p:nvSpPr>
          <p:cNvPr id="28" name="text"/>
          <p:cNvSpPr txBox="1"/>
          <p:nvPr/>
        </p:nvSpPr>
        <p:spPr>
          <a:xfrm>
            <a:off x="6327648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角色/场景/风格</a:t>
            </a:r>
            <a:endParaRPr lang="zh-CN" sz="900"/>
          </a:p>
        </p:txBody>
      </p:sp>
      <p:sp>
        <p:nvSpPr>
          <p:cNvPr id="29" name="arrow"/>
          <p:cNvSpPr/>
          <p:nvPr/>
        </p:nvSpPr>
        <p:spPr>
          <a:xfrm>
            <a:off x="7635240" y="212140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30" name="rect"/>
          <p:cNvSpPr/>
          <p:nvPr/>
        </p:nvSpPr>
        <p:spPr>
          <a:xfrm>
            <a:off x="8019288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129016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🎞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641080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分镜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183880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镜头卡</a:t>
            </a:r>
            <a:endParaRPr lang="zh-CN" sz="900"/>
          </a:p>
        </p:txBody>
      </p:sp>
      <p:sp>
        <p:nvSpPr>
          <p:cNvPr id="34" name="arrow"/>
          <p:cNvSpPr/>
          <p:nvPr/>
        </p:nvSpPr>
        <p:spPr>
          <a:xfrm>
            <a:off x="9491472" y="2121408"/>
            <a:ext cx="310896" cy="201168"/>
          </a:xfrm>
          <a:prstGeom prst="rightArrow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35" name="rect"/>
          <p:cNvSpPr/>
          <p:nvPr/>
        </p:nvSpPr>
        <p:spPr>
          <a:xfrm>
            <a:off x="9875520" y="1737360"/>
            <a:ext cx="1417320" cy="987552"/>
          </a:xfrm>
          <a:prstGeom prst="roundRect">
            <a:avLst/>
          </a:prstGeom>
          <a:solidFill>
            <a:srgbClr val="1D3154"/>
          </a:solidFill>
          <a:ln w="12700">
            <a:solidFill>
              <a:srgbClr val="456A9C"/>
            </a:solidFill>
          </a:ln>
        </p:spPr>
      </p:sp>
      <p:sp>
        <p:nvSpPr>
          <p:cNvPr id="36" name="text"/>
          <p:cNvSpPr txBox="1"/>
          <p:nvPr/>
        </p:nvSpPr>
        <p:spPr>
          <a:xfrm>
            <a:off x="9985248" y="1828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▶</a:t>
            </a:r>
            <a:endParaRPr lang="zh-CN" sz="2200"/>
          </a:p>
        </p:txBody>
      </p:sp>
      <p:sp>
        <p:nvSpPr>
          <p:cNvPr id="37" name="text"/>
          <p:cNvSpPr txBox="1"/>
          <p:nvPr/>
        </p:nvSpPr>
        <p:spPr>
          <a:xfrm>
            <a:off x="10497312" y="1847088"/>
            <a:ext cx="66751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endParaRPr lang="zh-CN" sz="1300"/>
          </a:p>
        </p:txBody>
      </p:sp>
      <p:sp>
        <p:nvSpPr>
          <p:cNvPr id="38" name="text"/>
          <p:cNvSpPr txBox="1"/>
          <p:nvPr/>
        </p:nvSpPr>
        <p:spPr>
          <a:xfrm>
            <a:off x="10040112" y="224028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图像/视频/声音</a:t>
            </a:r>
            <a:endParaRPr lang="zh-CN" sz="900"/>
          </a:p>
        </p:txBody>
      </p:sp>
      <p:sp>
        <p:nvSpPr>
          <p:cNvPr id="39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40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8</a:t>
            </a:r>
            <a:endParaRPr lang="zh-CN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关键节点必须保留人工确认和版本保存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AI 生成初稿，人负责判断；系统负责保存正式版本并继续流转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09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182880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环节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2606040" y="1417320"/>
            <a:ext cx="274320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2642616" y="146304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AI 负责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5349240" y="1417320"/>
            <a:ext cx="274320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385816" y="146304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人负责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8092440" y="1417320"/>
            <a:ext cx="274320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29015" y="146304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系统负责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777240" y="2002536"/>
            <a:ext cx="18288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13816" y="2048255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小说分析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2606040" y="2002536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2642616" y="2048255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生成结构化分析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5349240" y="2002536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5385816" y="2048255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判断准确性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8092440" y="2002536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8129015" y="2048255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保存版本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777240" y="2587752"/>
            <a:ext cx="18288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13816" y="2633472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剧本改写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2606040" y="2587752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2642616" y="263347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生成剧本初稿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5349240" y="2587752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5385816" y="263347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修改剧情台词</a:t>
            </a:r>
            <a:endParaRPr lang="zh-CN" sz="900"/>
          </a:p>
        </p:txBody>
      </p:sp>
      <p:sp>
        <p:nvSpPr>
          <p:cNvPr id="32" name="rect"/>
          <p:cNvSpPr/>
          <p:nvPr/>
        </p:nvSpPr>
        <p:spPr>
          <a:xfrm>
            <a:off x="8092440" y="2587752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8129015" y="263347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记录正式版本</a:t>
            </a:r>
            <a:endParaRPr lang="zh-CN" sz="900"/>
          </a:p>
        </p:txBody>
      </p:sp>
      <p:sp>
        <p:nvSpPr>
          <p:cNvPr id="34" name="rect"/>
          <p:cNvSpPr/>
          <p:nvPr/>
        </p:nvSpPr>
        <p:spPr>
          <a:xfrm>
            <a:off x="777240" y="3172968"/>
            <a:ext cx="18288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3218687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资产卡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2606040" y="3172968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2642616" y="3218687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生成设定提示词</a:t>
            </a:r>
            <a:endParaRPr lang="zh-CN" sz="900"/>
          </a:p>
        </p:txBody>
      </p:sp>
      <p:sp>
        <p:nvSpPr>
          <p:cNvPr id="38" name="rect"/>
          <p:cNvSpPr/>
          <p:nvPr/>
        </p:nvSpPr>
        <p:spPr>
          <a:xfrm>
            <a:off x="5349240" y="3172968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5385816" y="3218687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调整形象风格</a:t>
            </a:r>
            <a:endParaRPr lang="zh-CN" sz="900"/>
          </a:p>
        </p:txBody>
      </p:sp>
      <p:sp>
        <p:nvSpPr>
          <p:cNvPr id="40" name="rect"/>
          <p:cNvSpPr/>
          <p:nvPr/>
        </p:nvSpPr>
        <p:spPr>
          <a:xfrm>
            <a:off x="8092440" y="3172968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8129015" y="3218687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绑定后续任务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777240" y="3758184"/>
            <a:ext cx="18288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813816" y="3803904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Storyboard</a:t>
            </a:r>
            <a:endParaRPr lang="zh-CN" sz="900"/>
          </a:p>
        </p:txBody>
      </p:sp>
      <p:sp>
        <p:nvSpPr>
          <p:cNvPr id="44" name="rect"/>
          <p:cNvSpPr/>
          <p:nvPr/>
        </p:nvSpPr>
        <p:spPr>
          <a:xfrm>
            <a:off x="2606040" y="3758184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2642616" y="3803904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拆分镜头</a:t>
            </a:r>
            <a:endParaRPr lang="zh-CN" sz="900"/>
          </a:p>
        </p:txBody>
      </p:sp>
      <p:sp>
        <p:nvSpPr>
          <p:cNvPr id="46" name="rect"/>
          <p:cNvSpPr/>
          <p:nvPr/>
        </p:nvSpPr>
        <p:spPr>
          <a:xfrm>
            <a:off x="5349240" y="3758184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5385816" y="3803904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确认镜头节奏</a:t>
            </a:r>
            <a:endParaRPr lang="zh-CN" sz="900"/>
          </a:p>
        </p:txBody>
      </p:sp>
      <p:sp>
        <p:nvSpPr>
          <p:cNvPr id="48" name="rect"/>
          <p:cNvSpPr/>
          <p:nvPr/>
        </p:nvSpPr>
        <p:spPr>
          <a:xfrm>
            <a:off x="8092440" y="3758184"/>
            <a:ext cx="274320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8129015" y="3803904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创建镜头任务</a:t>
            </a:r>
            <a:endParaRPr lang="zh-CN" sz="900"/>
          </a:p>
        </p:txBody>
      </p:sp>
      <p:sp>
        <p:nvSpPr>
          <p:cNvPr id="50" name="rect"/>
          <p:cNvSpPr/>
          <p:nvPr/>
        </p:nvSpPr>
        <p:spPr>
          <a:xfrm>
            <a:off x="777240" y="4343400"/>
            <a:ext cx="18288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813816" y="4389120"/>
            <a:ext cx="17556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视频生成</a:t>
            </a:r>
            <a:endParaRPr lang="zh-CN" sz="900"/>
          </a:p>
        </p:txBody>
      </p:sp>
      <p:sp>
        <p:nvSpPr>
          <p:cNvPr id="52" name="rect"/>
          <p:cNvSpPr/>
          <p:nvPr/>
        </p:nvSpPr>
        <p:spPr>
          <a:xfrm>
            <a:off x="2606040" y="4343400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53" name="text"/>
          <p:cNvSpPr txBox="1"/>
          <p:nvPr/>
        </p:nvSpPr>
        <p:spPr>
          <a:xfrm>
            <a:off x="2642616" y="438912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生成候选片段</a:t>
            </a:r>
            <a:endParaRPr lang="zh-CN" sz="900"/>
          </a:p>
        </p:txBody>
      </p:sp>
      <p:sp>
        <p:nvSpPr>
          <p:cNvPr id="54" name="rect"/>
          <p:cNvSpPr/>
          <p:nvPr/>
        </p:nvSpPr>
        <p:spPr>
          <a:xfrm>
            <a:off x="5349240" y="4343400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55" name="text"/>
          <p:cNvSpPr txBox="1"/>
          <p:nvPr/>
        </p:nvSpPr>
        <p:spPr>
          <a:xfrm>
            <a:off x="5385816" y="438912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审核/重生成</a:t>
            </a:r>
            <a:endParaRPr lang="zh-CN" sz="900"/>
          </a:p>
        </p:txBody>
      </p:sp>
      <p:sp>
        <p:nvSpPr>
          <p:cNvPr id="56" name="rect"/>
          <p:cNvSpPr/>
          <p:nvPr/>
        </p:nvSpPr>
        <p:spPr>
          <a:xfrm>
            <a:off x="8092440" y="4343400"/>
            <a:ext cx="274320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57" name="text"/>
          <p:cNvSpPr txBox="1"/>
          <p:nvPr/>
        </p:nvSpPr>
        <p:spPr>
          <a:xfrm>
            <a:off x="8129015" y="4389120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记录参数成本</a:t>
            </a:r>
            <a:endParaRPr lang="zh-CN" sz="900"/>
          </a:p>
        </p:txBody>
      </p:sp>
      <p:sp>
        <p:nvSpPr>
          <p:cNvPr id="58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59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9</a:t>
            </a:r>
            <a:endParaRPr lang="zh-CN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视频生成前，必须先建立六类核心中间层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角色、场景、风格、道具、声音和 Storyboard 是控制一致性的关键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10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人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角色卡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外形、服装、表情、动作、声音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景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场景卡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空间布局、光线、天气、不可变元素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风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风格卡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画风、色彩、光影、质感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物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道具卡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关键物件外观与叙事功能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声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声音卡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声线、语速、语气和环境声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镜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AI Storyboard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镜头编号、景别、机位、运镜、时长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10</a:t>
            </a:r>
            <a:endParaRPr lang="zh-CN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平台自动组装镜头级生成任务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用户不需要手写复杂单句提示词，系统按镜头整合资产约束和模型参数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11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🎞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Storyboard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镜头说明、景别、机位、运镜、时长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🧩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资产约束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角色卡、场景卡、风格卡、道具卡、声音卡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T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提示词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正向提示词 + 负向提示词 + 模板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I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参考素材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角色图、场景图、首帧、尾帧、参考视频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⚙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模型参数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模型、尺寸、时长、种子、参考强度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▶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生成结果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候选视频片段、多版本、审核状态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11</a:t>
            </a:r>
            <a:endParaRPr lang="zh-CN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第一阶段建议建设 10 个核心模块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围绕核心闭环选择最必要模块，避免大而全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12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1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项目管理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创建、状态、进度、版本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2913278" y="1325880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3023006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2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3535070" y="1435607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小说分析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3077870" y="1828800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梗概、结构、人物、场景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5140756" y="1325880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5250484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3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5762548" y="1435607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剧本改写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5305348" y="1828800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分集、分场、台词、旁白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368235" y="1325880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477963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4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7990027" y="1435607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角色卡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7532827" y="1828800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外形、服装、表情、提示词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9595713" y="1325880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9705441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5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10217505" y="1435607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场景/风格卡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9760305" y="1828800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空间、光影、色彩、质感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685800" y="2532888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795528" y="26243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6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1307592" y="2642616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Storyboard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50392" y="3035808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镜头卡、景别、机位、运镜</a:t>
            </a:r>
            <a:endParaRPr lang="zh-CN" sz="900"/>
          </a:p>
        </p:txBody>
      </p:sp>
      <p:sp>
        <p:nvSpPr>
          <p:cNvPr id="34" name="rect"/>
          <p:cNvSpPr/>
          <p:nvPr/>
        </p:nvSpPr>
        <p:spPr>
          <a:xfrm>
            <a:off x="2913278" y="2532888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3023006" y="26243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7</a:t>
            </a:r>
            <a:endParaRPr lang="zh-CN" sz="2200"/>
          </a:p>
        </p:txBody>
      </p:sp>
      <p:sp>
        <p:nvSpPr>
          <p:cNvPr id="36" name="text"/>
          <p:cNvSpPr txBox="1"/>
          <p:nvPr/>
        </p:nvSpPr>
        <p:spPr>
          <a:xfrm>
            <a:off x="3535070" y="2642616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镜头生成</a:t>
            </a:r>
            <a:endParaRPr lang="zh-CN" sz="1300"/>
          </a:p>
        </p:txBody>
      </p:sp>
      <p:sp>
        <p:nvSpPr>
          <p:cNvPr id="37" name="text"/>
          <p:cNvSpPr txBox="1"/>
          <p:nvPr/>
        </p:nvSpPr>
        <p:spPr>
          <a:xfrm>
            <a:off x="3077870" y="3035808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关键帧、视频片段、多版本</a:t>
            </a:r>
            <a:endParaRPr lang="zh-CN" sz="900"/>
          </a:p>
        </p:txBody>
      </p:sp>
      <p:sp>
        <p:nvSpPr>
          <p:cNvPr id="38" name="rect"/>
          <p:cNvSpPr/>
          <p:nvPr/>
        </p:nvSpPr>
        <p:spPr>
          <a:xfrm>
            <a:off x="5140756" y="2532888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5250484" y="26243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8</a:t>
            </a:r>
            <a:endParaRPr lang="zh-CN" sz="2200"/>
          </a:p>
        </p:txBody>
      </p:sp>
      <p:sp>
        <p:nvSpPr>
          <p:cNvPr id="40" name="text"/>
          <p:cNvSpPr txBox="1"/>
          <p:nvPr/>
        </p:nvSpPr>
        <p:spPr>
          <a:xfrm>
            <a:off x="5762548" y="2642616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后期预览</a:t>
            </a:r>
            <a:endParaRPr lang="zh-CN" sz="1300"/>
          </a:p>
        </p:txBody>
      </p:sp>
      <p:sp>
        <p:nvSpPr>
          <p:cNvPr id="41" name="text"/>
          <p:cNvSpPr txBox="1"/>
          <p:nvPr/>
        </p:nvSpPr>
        <p:spPr>
          <a:xfrm>
            <a:off x="5305348" y="3035808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字幕、拼接、导出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7368235" y="2532888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7477963" y="26243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9</a:t>
            </a:r>
            <a:endParaRPr lang="zh-CN" sz="2200"/>
          </a:p>
        </p:txBody>
      </p:sp>
      <p:sp>
        <p:nvSpPr>
          <p:cNvPr id="44" name="text"/>
          <p:cNvSpPr txBox="1"/>
          <p:nvPr/>
        </p:nvSpPr>
        <p:spPr>
          <a:xfrm>
            <a:off x="7990027" y="2642616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模型适配</a:t>
            </a:r>
            <a:endParaRPr lang="zh-CN" sz="1300"/>
          </a:p>
        </p:txBody>
      </p:sp>
      <p:sp>
        <p:nvSpPr>
          <p:cNvPr id="45" name="text"/>
          <p:cNvSpPr txBox="1"/>
          <p:nvPr/>
        </p:nvSpPr>
        <p:spPr>
          <a:xfrm>
            <a:off x="7532827" y="3035808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文本、图像、视频、语音</a:t>
            </a:r>
            <a:endParaRPr lang="zh-CN" sz="900"/>
          </a:p>
        </p:txBody>
      </p:sp>
      <p:sp>
        <p:nvSpPr>
          <p:cNvPr id="46" name="rect"/>
          <p:cNvSpPr/>
          <p:nvPr/>
        </p:nvSpPr>
        <p:spPr>
          <a:xfrm>
            <a:off x="9595713" y="2532888"/>
            <a:ext cx="1971446" cy="9144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9705441" y="26243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10</a:t>
            </a:r>
            <a:endParaRPr lang="zh-CN" sz="2200"/>
          </a:p>
        </p:txBody>
      </p:sp>
      <p:sp>
        <p:nvSpPr>
          <p:cNvPr id="48" name="text"/>
          <p:cNvSpPr txBox="1"/>
          <p:nvPr/>
        </p:nvSpPr>
        <p:spPr>
          <a:xfrm>
            <a:off x="10217505" y="2642616"/>
            <a:ext cx="1221638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资产库</a:t>
            </a:r>
            <a:endParaRPr lang="zh-CN" sz="1300"/>
          </a:p>
        </p:txBody>
      </p:sp>
      <p:sp>
        <p:nvSpPr>
          <p:cNvPr id="49" name="text"/>
          <p:cNvSpPr txBox="1"/>
          <p:nvPr/>
        </p:nvSpPr>
        <p:spPr>
          <a:xfrm>
            <a:off x="9760305" y="3035808"/>
            <a:ext cx="1642262" cy="2926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沉淀、检索、复用</a:t>
            </a:r>
            <a:endParaRPr lang="zh-CN" sz="900"/>
          </a:p>
        </p:txBody>
      </p:sp>
      <p:sp>
        <p:nvSpPr>
          <p:cNvPr id="50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51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12</a:t>
            </a:r>
            <a:endParaRPr lang="zh-CN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第一阶段先做最小可用闭环，不做大而全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目标是验证从小说文本到视频片段和简单成片预览的可行性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13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1F4B60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✓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P0 必做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项目创建、小说输入、AI 分析、剧本改写、人工审核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1F4B60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✓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P0 必做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角色/场景/风格卡、Storyboard、镜头提示词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1F4B60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✓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P0 必做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关键帧、视频片段、多版本审核、简单预览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4A2F3A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—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暂不重点做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复杂岗位权限、传统多人协同、大规模资产市场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4A2F3A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—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暂不重点做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完整商业级后期、复杂 Agent 自主编排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43A65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★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验证重点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流程、模型效果、成本、单人主导效率和资产沉淀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13</a:t>
            </a:r>
            <a:endParaRPr lang="zh-CN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建议按三阶段推进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先验证闭环，再提升生产管理能力，最终形成平台化能力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14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645920"/>
            <a:ext cx="2468880" cy="822960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691640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3246120" y="1645920"/>
            <a:ext cx="5577840" cy="822960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282696" y="1691640"/>
            <a:ext cx="550468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建设重点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8823960" y="1645920"/>
            <a:ext cx="2011680" cy="822960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860536" y="1691640"/>
            <a:ext cx="19385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目标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777240" y="2468880"/>
            <a:ext cx="246888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3816" y="2514600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阶段一：核心闭环验证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3246120" y="2468880"/>
            <a:ext cx="557784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282696" y="2514600"/>
            <a:ext cx="550468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小说 → 剧本 → 资产卡 → Storyboard → 视频片段 → 预览</a:t>
            </a:r>
            <a:endParaRPr lang="zh-CN" sz="800"/>
          </a:p>
        </p:txBody>
      </p:sp>
      <p:sp>
        <p:nvSpPr>
          <p:cNvPr id="20" name="rect"/>
          <p:cNvSpPr/>
          <p:nvPr/>
        </p:nvSpPr>
        <p:spPr>
          <a:xfrm>
            <a:off x="8823960" y="2468880"/>
            <a:ext cx="201168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860536" y="2514600"/>
            <a:ext cx="19385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验证可行性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77240" y="3291840"/>
            <a:ext cx="2468880" cy="82296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3337560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阶段二：生产管理能力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3246120" y="3291840"/>
            <a:ext cx="5577840" cy="82296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3282696" y="3337560"/>
            <a:ext cx="550468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批量生成、多模型对比、审核流程、成本统计、失败案例库</a:t>
            </a:r>
            <a:endParaRPr lang="zh-CN" sz="800"/>
          </a:p>
        </p:txBody>
      </p:sp>
      <p:sp>
        <p:nvSpPr>
          <p:cNvPr id="26" name="rect"/>
          <p:cNvSpPr/>
          <p:nvPr/>
        </p:nvSpPr>
        <p:spPr>
          <a:xfrm>
            <a:off x="8823960" y="3291840"/>
            <a:ext cx="2011680" cy="82296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860536" y="3337560"/>
            <a:ext cx="19385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提升效率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777240" y="4114800"/>
            <a:ext cx="246888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813816" y="4160520"/>
            <a:ext cx="23957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阶段三：平台化能力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3246120" y="4114800"/>
            <a:ext cx="557784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3282696" y="4160520"/>
            <a:ext cx="550468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多项目、多团队、权限、API、私有化部署、工作流模板</a:t>
            </a:r>
            <a:endParaRPr lang="zh-CN" sz="800"/>
          </a:p>
        </p:txBody>
      </p:sp>
      <p:sp>
        <p:nvSpPr>
          <p:cNvPr id="32" name="rect"/>
          <p:cNvSpPr/>
          <p:nvPr/>
        </p:nvSpPr>
        <p:spPr>
          <a:xfrm>
            <a:off x="8823960" y="4114800"/>
            <a:ext cx="2011680" cy="82296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8860536" y="4160520"/>
            <a:ext cx="1938528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支撑规模化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14</a:t>
            </a:r>
            <a:endParaRPr lang="zh-CN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第一阶段完成后，我们能看到什么成果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形成可演示、可验证、可继续扩展的生产原型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15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P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项目原型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可操作工作台与核心流程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S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剧本中间稿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AI 改写 + 人工编辑 + 版本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C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资产卡样例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角色、场景、风格卡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B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Storyboard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镜头卡、提示词、资产绑定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V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生成结果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关键帧、参考图、视频片段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A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资产库结构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提示词、参数、审核、失败案例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15</a:t>
            </a:r>
            <a:endParaRPr lang="zh-CN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采用轻量、稳定、可扩展的技术架构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工作流优先，复杂 Agent 框架后置；模型可替换，数据资产保留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16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182880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层级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2606040" y="1417320"/>
            <a:ext cx="347472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2642616" y="1463040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建议方案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6080760" y="1417320"/>
            <a:ext cx="457200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117336" y="1463040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说明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777240" y="1911095"/>
            <a:ext cx="18288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3816" y="1956815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前端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2606040" y="1911095"/>
            <a:ext cx="3474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2642616" y="1956815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Next.js / React / TypeScript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6080760" y="1911095"/>
            <a:ext cx="4572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117336" y="1956815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项目工作台、编辑、预览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77240" y="2404872"/>
            <a:ext cx="18288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2450591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后端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2606040" y="2404872"/>
            <a:ext cx="3474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2642616" y="2450591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FastAPI</a:t>
            </a:r>
            <a:endParaRPr lang="zh-CN" sz="800"/>
          </a:p>
        </p:txBody>
      </p:sp>
      <p:sp>
        <p:nvSpPr>
          <p:cNvPr id="26" name="rect"/>
          <p:cNvSpPr/>
          <p:nvPr/>
        </p:nvSpPr>
        <p:spPr>
          <a:xfrm>
            <a:off x="6080760" y="2404872"/>
            <a:ext cx="4572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6117336" y="2450591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API、工作流、任务创建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777240" y="2898648"/>
            <a:ext cx="18288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813816" y="2944368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数据库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2606040" y="2898648"/>
            <a:ext cx="3474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2642616" y="2944368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PostgreSQL</a:t>
            </a:r>
            <a:endParaRPr lang="zh-CN" sz="900"/>
          </a:p>
        </p:txBody>
      </p:sp>
      <p:sp>
        <p:nvSpPr>
          <p:cNvPr id="32" name="rect"/>
          <p:cNvSpPr/>
          <p:nvPr/>
        </p:nvSpPr>
        <p:spPr>
          <a:xfrm>
            <a:off x="6080760" y="2898648"/>
            <a:ext cx="4572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6117336" y="2944368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项目、版本、审核、状态</a:t>
            </a:r>
            <a:endParaRPr lang="zh-CN" sz="900"/>
          </a:p>
        </p:txBody>
      </p:sp>
      <p:sp>
        <p:nvSpPr>
          <p:cNvPr id="34" name="rect"/>
          <p:cNvSpPr/>
          <p:nvPr/>
        </p:nvSpPr>
        <p:spPr>
          <a:xfrm>
            <a:off x="777240" y="3392424"/>
            <a:ext cx="18288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3438144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对象存储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2606040" y="3392424"/>
            <a:ext cx="3474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2642616" y="3438144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MinIO / S3</a:t>
            </a:r>
            <a:endParaRPr lang="zh-CN" sz="800"/>
          </a:p>
        </p:txBody>
      </p:sp>
      <p:sp>
        <p:nvSpPr>
          <p:cNvPr id="38" name="rect"/>
          <p:cNvSpPr/>
          <p:nvPr/>
        </p:nvSpPr>
        <p:spPr>
          <a:xfrm>
            <a:off x="6080760" y="3392424"/>
            <a:ext cx="4572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6117336" y="3438144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图片、视频、音频、导出文件</a:t>
            </a:r>
            <a:endParaRPr lang="zh-CN" sz="900"/>
          </a:p>
        </p:txBody>
      </p:sp>
      <p:sp>
        <p:nvSpPr>
          <p:cNvPr id="40" name="rect"/>
          <p:cNvSpPr/>
          <p:nvPr/>
        </p:nvSpPr>
        <p:spPr>
          <a:xfrm>
            <a:off x="777240" y="3886200"/>
            <a:ext cx="18288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813816" y="3931920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任务队列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2606040" y="3886200"/>
            <a:ext cx="3474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2642616" y="3931920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Redis + Celery</a:t>
            </a:r>
            <a:endParaRPr lang="zh-CN" sz="800"/>
          </a:p>
        </p:txBody>
      </p:sp>
      <p:sp>
        <p:nvSpPr>
          <p:cNvPr id="44" name="rect"/>
          <p:cNvSpPr/>
          <p:nvPr/>
        </p:nvSpPr>
        <p:spPr>
          <a:xfrm>
            <a:off x="6080760" y="3886200"/>
            <a:ext cx="4572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6117336" y="3931920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异步模型调用与视频处理</a:t>
            </a:r>
            <a:endParaRPr lang="zh-CN" sz="900"/>
          </a:p>
        </p:txBody>
      </p:sp>
      <p:sp>
        <p:nvSpPr>
          <p:cNvPr id="46" name="rect"/>
          <p:cNvSpPr/>
          <p:nvPr/>
        </p:nvSpPr>
        <p:spPr>
          <a:xfrm>
            <a:off x="777240" y="4379976"/>
            <a:ext cx="18288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813816" y="4425696"/>
            <a:ext cx="17556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模型适配</a:t>
            </a:r>
            <a:endParaRPr lang="zh-CN" sz="900"/>
          </a:p>
        </p:txBody>
      </p:sp>
      <p:sp>
        <p:nvSpPr>
          <p:cNvPr id="48" name="rect"/>
          <p:cNvSpPr/>
          <p:nvPr/>
        </p:nvSpPr>
        <p:spPr>
          <a:xfrm>
            <a:off x="2606040" y="4379976"/>
            <a:ext cx="3474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2642616" y="4425696"/>
            <a:ext cx="3401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Provider Adapter</a:t>
            </a:r>
            <a:endParaRPr lang="zh-CN" sz="900"/>
          </a:p>
        </p:txBody>
      </p:sp>
      <p:sp>
        <p:nvSpPr>
          <p:cNvPr id="50" name="rect"/>
          <p:cNvSpPr/>
          <p:nvPr/>
        </p:nvSpPr>
        <p:spPr>
          <a:xfrm>
            <a:off x="6080760" y="4379976"/>
            <a:ext cx="4572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6117336" y="4425696"/>
            <a:ext cx="4498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统一接入文本/图像/视频/语音</a:t>
            </a:r>
            <a:endParaRPr lang="zh-CN" sz="900"/>
          </a:p>
        </p:txBody>
      </p:sp>
      <p:sp>
        <p:nvSpPr>
          <p:cNvPr id="52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53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16</a:t>
            </a:r>
            <a:endParaRPr lang="zh-CN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项目推进的核心前提：可稳定调用大模型能力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文本、图像、视频模型是第一阶段最核心的前置条件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17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219456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模型类型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2971800" y="1417320"/>
            <a:ext cx="576072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008376" y="1463040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用途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8732520" y="1417320"/>
            <a:ext cx="2103120" cy="58521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769096" y="1463040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优先级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777240" y="2002536"/>
            <a:ext cx="219456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3816" y="2048255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文本大模型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2971800" y="2002536"/>
            <a:ext cx="57607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008376" y="2048255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小说理解、剧情拆解、剧本改写、资产卡、Storyboard、提示词</a:t>
            </a:r>
            <a:endParaRPr lang="zh-CN" sz="800"/>
          </a:p>
        </p:txBody>
      </p:sp>
      <p:sp>
        <p:nvSpPr>
          <p:cNvPr id="20" name="rect"/>
          <p:cNvSpPr/>
          <p:nvPr/>
        </p:nvSpPr>
        <p:spPr>
          <a:xfrm>
            <a:off x="8732520" y="2002536"/>
            <a:ext cx="21031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8769096" y="2048255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最高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77240" y="2587752"/>
            <a:ext cx="219456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2633472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图像生成模型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2971800" y="2587752"/>
            <a:ext cx="576072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3008376" y="2633472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角色图、场景图、风格图、关键帧、首尾帧</a:t>
            </a:r>
            <a:endParaRPr lang="zh-CN" sz="800"/>
          </a:p>
        </p:txBody>
      </p:sp>
      <p:sp>
        <p:nvSpPr>
          <p:cNvPr id="26" name="rect"/>
          <p:cNvSpPr/>
          <p:nvPr/>
        </p:nvSpPr>
        <p:spPr>
          <a:xfrm>
            <a:off x="8732520" y="2587752"/>
            <a:ext cx="210312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769096" y="2633472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最高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777240" y="3172968"/>
            <a:ext cx="219456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813816" y="3218687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视频生成模型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2971800" y="3172968"/>
            <a:ext cx="57607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3008376" y="3218687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文生视频、图生视频、首帧/首尾帧视频</a:t>
            </a:r>
            <a:endParaRPr lang="zh-CN" sz="800"/>
          </a:p>
        </p:txBody>
      </p:sp>
      <p:sp>
        <p:nvSpPr>
          <p:cNvPr id="32" name="rect"/>
          <p:cNvSpPr/>
          <p:nvPr/>
        </p:nvSpPr>
        <p:spPr>
          <a:xfrm>
            <a:off x="8732520" y="3172968"/>
            <a:ext cx="21031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8769096" y="3218687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最高</a:t>
            </a:r>
            <a:endParaRPr lang="zh-CN" sz="900"/>
          </a:p>
        </p:txBody>
      </p:sp>
      <p:sp>
        <p:nvSpPr>
          <p:cNvPr id="34" name="rect"/>
          <p:cNvSpPr/>
          <p:nvPr/>
        </p:nvSpPr>
        <p:spPr>
          <a:xfrm>
            <a:off x="777240" y="3758184"/>
            <a:ext cx="219456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3803904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语音生成模型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2971800" y="3758184"/>
            <a:ext cx="576072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3008376" y="3803904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配音、旁白、声音测试</a:t>
            </a:r>
            <a:endParaRPr lang="zh-CN" sz="900"/>
          </a:p>
        </p:txBody>
      </p:sp>
      <p:sp>
        <p:nvSpPr>
          <p:cNvPr id="38" name="rect"/>
          <p:cNvSpPr/>
          <p:nvPr/>
        </p:nvSpPr>
        <p:spPr>
          <a:xfrm>
            <a:off x="8732520" y="3758184"/>
            <a:ext cx="2103120" cy="58521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8769096" y="3803904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中</a:t>
            </a:r>
            <a:endParaRPr lang="zh-CN" sz="900"/>
          </a:p>
        </p:txBody>
      </p:sp>
      <p:sp>
        <p:nvSpPr>
          <p:cNvPr id="40" name="rect"/>
          <p:cNvSpPr/>
          <p:nvPr/>
        </p:nvSpPr>
        <p:spPr>
          <a:xfrm>
            <a:off x="777240" y="4343400"/>
            <a:ext cx="219456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813816" y="4389120"/>
            <a:ext cx="212140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字幕/识别模型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2971800" y="4343400"/>
            <a:ext cx="57607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3008376" y="4389120"/>
            <a:ext cx="568756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字幕生成、音频转写</a:t>
            </a:r>
            <a:endParaRPr lang="zh-CN" sz="900"/>
          </a:p>
        </p:txBody>
      </p:sp>
      <p:sp>
        <p:nvSpPr>
          <p:cNvPr id="44" name="rect"/>
          <p:cNvSpPr/>
          <p:nvPr/>
        </p:nvSpPr>
        <p:spPr>
          <a:xfrm>
            <a:off x="8732520" y="4343400"/>
            <a:ext cx="2103120" cy="58521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8769096" y="4389120"/>
            <a:ext cx="2029967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中</a:t>
            </a:r>
            <a:endParaRPr lang="zh-CN" sz="900"/>
          </a:p>
        </p:txBody>
      </p:sp>
      <p:sp>
        <p:nvSpPr>
          <p:cNvPr id="46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47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17</a:t>
            </a:r>
            <a:endParaRPr lang="zh-CN" sz="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第一阶段需要小团队快速验证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建议用小团队完成 8-12 周核心闭环原型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18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228600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角色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3063240" y="1417320"/>
            <a:ext cx="118872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3099816" y="1463040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人数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251960" y="1417320"/>
            <a:ext cx="6583680" cy="493776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288536" y="1463040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职责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777240" y="1911095"/>
            <a:ext cx="2286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13816" y="1956815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产品负责人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3063240" y="1911095"/>
            <a:ext cx="1188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3099816" y="1956815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1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4251960" y="1911095"/>
            <a:ext cx="658368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288536" y="1956815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流程设计、需求拆解、验收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777240" y="2404872"/>
            <a:ext cx="2286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2450591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前端工程师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3063240" y="2404872"/>
            <a:ext cx="1188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3099816" y="2450591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1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251960" y="2404872"/>
            <a:ext cx="658368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288536" y="2450591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工作台、编辑器、资产管理、预览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777240" y="2898648"/>
            <a:ext cx="2286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813816" y="2944368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后端工程师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3063240" y="2898648"/>
            <a:ext cx="1188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3099816" y="2944368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1-2</a:t>
            </a:r>
            <a:endParaRPr lang="zh-CN" sz="900"/>
          </a:p>
        </p:txBody>
      </p:sp>
      <p:sp>
        <p:nvSpPr>
          <p:cNvPr id="32" name="rect"/>
          <p:cNvSpPr/>
          <p:nvPr/>
        </p:nvSpPr>
        <p:spPr>
          <a:xfrm>
            <a:off x="4251960" y="2898648"/>
            <a:ext cx="658368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4288536" y="2944368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API、数据库、任务队列、版本管理</a:t>
            </a:r>
            <a:endParaRPr lang="zh-CN" sz="800"/>
          </a:p>
        </p:txBody>
      </p:sp>
      <p:sp>
        <p:nvSpPr>
          <p:cNvPr id="34" name="rect"/>
          <p:cNvSpPr/>
          <p:nvPr/>
        </p:nvSpPr>
        <p:spPr>
          <a:xfrm>
            <a:off x="777240" y="3392424"/>
            <a:ext cx="2286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3438144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AI/模型接入工程师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3063240" y="3392424"/>
            <a:ext cx="1188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3099816" y="3438144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1</a:t>
            </a:r>
            <a:endParaRPr lang="zh-CN" sz="900"/>
          </a:p>
        </p:txBody>
      </p:sp>
      <p:sp>
        <p:nvSpPr>
          <p:cNvPr id="38" name="rect"/>
          <p:cNvSpPr/>
          <p:nvPr/>
        </p:nvSpPr>
        <p:spPr>
          <a:xfrm>
            <a:off x="4251960" y="3392424"/>
            <a:ext cx="658368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9" name="text"/>
          <p:cNvSpPr txBox="1"/>
          <p:nvPr/>
        </p:nvSpPr>
        <p:spPr>
          <a:xfrm>
            <a:off x="4288536" y="3438144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模型适配、提示词模板、结构化输出</a:t>
            </a:r>
            <a:endParaRPr lang="zh-CN" sz="900"/>
          </a:p>
        </p:txBody>
      </p:sp>
      <p:sp>
        <p:nvSpPr>
          <p:cNvPr id="40" name="rect"/>
          <p:cNvSpPr/>
          <p:nvPr/>
        </p:nvSpPr>
        <p:spPr>
          <a:xfrm>
            <a:off x="777240" y="3886200"/>
            <a:ext cx="228600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1" name="text"/>
          <p:cNvSpPr txBox="1"/>
          <p:nvPr/>
        </p:nvSpPr>
        <p:spPr>
          <a:xfrm>
            <a:off x="813816" y="3931920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美术/编剧顾问</a:t>
            </a:r>
            <a:endParaRPr lang="zh-CN" sz="900"/>
          </a:p>
        </p:txBody>
      </p:sp>
      <p:sp>
        <p:nvSpPr>
          <p:cNvPr id="42" name="rect"/>
          <p:cNvSpPr/>
          <p:nvPr/>
        </p:nvSpPr>
        <p:spPr>
          <a:xfrm>
            <a:off x="3063240" y="3886200"/>
            <a:ext cx="118872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3" name="text"/>
          <p:cNvSpPr txBox="1"/>
          <p:nvPr/>
        </p:nvSpPr>
        <p:spPr>
          <a:xfrm>
            <a:off x="3099816" y="3931920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各 1</a:t>
            </a:r>
            <a:endParaRPr lang="zh-CN" sz="900"/>
          </a:p>
        </p:txBody>
      </p:sp>
      <p:sp>
        <p:nvSpPr>
          <p:cNvPr id="44" name="rect"/>
          <p:cNvSpPr/>
          <p:nvPr/>
        </p:nvSpPr>
        <p:spPr>
          <a:xfrm>
            <a:off x="4251960" y="3886200"/>
            <a:ext cx="6583680" cy="493776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45" name="text"/>
          <p:cNvSpPr txBox="1"/>
          <p:nvPr/>
        </p:nvSpPr>
        <p:spPr>
          <a:xfrm>
            <a:off x="4288536" y="3931920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视觉审核、剧情分镜质量判断</a:t>
            </a:r>
            <a:endParaRPr lang="zh-CN" sz="900"/>
          </a:p>
        </p:txBody>
      </p:sp>
      <p:sp>
        <p:nvSpPr>
          <p:cNvPr id="46" name="rect"/>
          <p:cNvSpPr/>
          <p:nvPr/>
        </p:nvSpPr>
        <p:spPr>
          <a:xfrm>
            <a:off x="777240" y="4379976"/>
            <a:ext cx="228600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7" name="text"/>
          <p:cNvSpPr txBox="1"/>
          <p:nvPr/>
        </p:nvSpPr>
        <p:spPr>
          <a:xfrm>
            <a:off x="813816" y="4425696"/>
            <a:ext cx="221284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测试/项目协调</a:t>
            </a:r>
            <a:endParaRPr lang="zh-CN" sz="900"/>
          </a:p>
        </p:txBody>
      </p:sp>
      <p:sp>
        <p:nvSpPr>
          <p:cNvPr id="48" name="rect"/>
          <p:cNvSpPr/>
          <p:nvPr/>
        </p:nvSpPr>
        <p:spPr>
          <a:xfrm>
            <a:off x="3063240" y="4379976"/>
            <a:ext cx="118872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3099816" y="4425696"/>
            <a:ext cx="111556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1</a:t>
            </a:r>
            <a:endParaRPr lang="zh-CN" sz="900"/>
          </a:p>
        </p:txBody>
      </p:sp>
      <p:sp>
        <p:nvSpPr>
          <p:cNvPr id="50" name="rect"/>
          <p:cNvSpPr/>
          <p:nvPr/>
        </p:nvSpPr>
        <p:spPr>
          <a:xfrm>
            <a:off x="4251960" y="4379976"/>
            <a:ext cx="6583680" cy="493776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51" name="text"/>
          <p:cNvSpPr txBox="1"/>
          <p:nvPr/>
        </p:nvSpPr>
        <p:spPr>
          <a:xfrm>
            <a:off x="4288536" y="4425696"/>
            <a:ext cx="6510528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流程测试、样例验收、问题跟进</a:t>
            </a:r>
            <a:endParaRPr lang="zh-CN" sz="900"/>
          </a:p>
        </p:txBody>
      </p:sp>
      <p:sp>
        <p:nvSpPr>
          <p:cNvPr id="52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53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18</a:t>
            </a:r>
            <a:endParaRPr lang="zh-CN" sz="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平台长期价值：效率提升 + 资产沉淀 + 生产标准化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短期形成可演示原型，长期沉淀公司级 AI 内容生产基础设施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19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↑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提效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缩短前期拆解和初稿生成时间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¥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降本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降低重复沟通、重复设定和试错成本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R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复用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沉淀角色、场景、风格、提示词和参数</a:t>
            </a:r>
            <a:endParaRPr lang="zh-CN" sz="900"/>
          </a:p>
        </p:txBody>
      </p:sp>
      <p:sp>
        <p:nvSpPr>
          <p:cNvPr id="22" name="rect"/>
          <p:cNvSpPr/>
          <p:nvPr/>
        </p:nvSpPr>
        <p:spPr>
          <a:xfrm>
            <a:off x="685800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95528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C</a:t>
            </a:r>
            <a:endParaRPr lang="zh-CN" sz="2200"/>
          </a:p>
        </p:txBody>
      </p:sp>
      <p:sp>
        <p:nvSpPr>
          <p:cNvPr id="24" name="text"/>
          <p:cNvSpPr txBox="1"/>
          <p:nvPr/>
        </p:nvSpPr>
        <p:spPr>
          <a:xfrm>
            <a:off x="1307592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可控</a:t>
            </a:r>
            <a:endParaRPr lang="zh-CN" sz="1300"/>
          </a:p>
        </p:txBody>
      </p:sp>
      <p:sp>
        <p:nvSpPr>
          <p:cNvPr id="25" name="text"/>
          <p:cNvSpPr txBox="1"/>
          <p:nvPr/>
        </p:nvSpPr>
        <p:spPr>
          <a:xfrm>
            <a:off x="850392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镜头级生成、人工审核、版本追溯</a:t>
            </a:r>
            <a:endParaRPr lang="zh-CN" sz="900"/>
          </a:p>
        </p:txBody>
      </p:sp>
      <p:sp>
        <p:nvSpPr>
          <p:cNvPr id="26" name="rect"/>
          <p:cNvSpPr/>
          <p:nvPr/>
        </p:nvSpPr>
        <p:spPr>
          <a:xfrm>
            <a:off x="4398264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07992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S</a:t>
            </a:r>
            <a:endParaRPr lang="zh-CN" sz="2200"/>
          </a:p>
        </p:txBody>
      </p:sp>
      <p:sp>
        <p:nvSpPr>
          <p:cNvPr id="28" name="text"/>
          <p:cNvSpPr txBox="1"/>
          <p:nvPr/>
        </p:nvSpPr>
        <p:spPr>
          <a:xfrm>
            <a:off x="5020055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规模化</a:t>
            </a:r>
            <a:endParaRPr lang="zh-CN" sz="1300"/>
          </a:p>
        </p:txBody>
      </p:sp>
      <p:sp>
        <p:nvSpPr>
          <p:cNvPr id="29" name="text"/>
          <p:cNvSpPr txBox="1"/>
          <p:nvPr/>
        </p:nvSpPr>
        <p:spPr>
          <a:xfrm>
            <a:off x="4562855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支撑未来批量短剧、漫剧、动画分镜生产</a:t>
            </a:r>
            <a:endParaRPr lang="zh-CN" sz="900"/>
          </a:p>
        </p:txBody>
      </p:sp>
      <p:sp>
        <p:nvSpPr>
          <p:cNvPr id="30" name="rect"/>
          <p:cNvSpPr/>
          <p:nvPr/>
        </p:nvSpPr>
        <p:spPr>
          <a:xfrm>
            <a:off x="8110727" y="2761488"/>
            <a:ext cx="3456432" cy="1143000"/>
          </a:xfrm>
          <a:prstGeom prst="roundRect">
            <a:avLst/>
          </a:prstGeom>
          <a:solidFill>
            <a:srgbClr val="223554"/>
          </a:solidFill>
          <a:ln w="12700">
            <a:solidFill>
              <a:srgbClr val="456A9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20455" y="2852928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M</a:t>
            </a:r>
            <a:endParaRPr lang="zh-CN" sz="2200"/>
          </a:p>
        </p:txBody>
      </p:sp>
      <p:sp>
        <p:nvSpPr>
          <p:cNvPr id="32" name="text"/>
          <p:cNvSpPr txBox="1"/>
          <p:nvPr/>
        </p:nvSpPr>
        <p:spPr>
          <a:xfrm>
            <a:off x="8732519" y="2871216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方法论</a:t>
            </a:r>
            <a:endParaRPr lang="zh-CN" sz="1300"/>
          </a:p>
        </p:txBody>
      </p:sp>
      <p:sp>
        <p:nvSpPr>
          <p:cNvPr id="33" name="text"/>
          <p:cNvSpPr txBox="1"/>
          <p:nvPr/>
        </p:nvSpPr>
        <p:spPr>
          <a:xfrm>
            <a:off x="8275319" y="3264408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把项目经验沉淀为标准流程</a:t>
            </a:r>
            <a:endParaRPr lang="zh-CN" sz="900"/>
          </a:p>
        </p:txBody>
      </p:sp>
      <p:sp>
        <p:nvSpPr>
          <p:cNvPr id="34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5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19</a:t>
            </a:r>
            <a:endParaRPr lang="zh-CN" sz="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风险可控，关键是分阶段和保留人工审核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主要风险来自模型质量和范围失控，平台通过结构化流程降低风险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20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777240" y="1417320"/>
            <a:ext cx="3200400" cy="502920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13816" y="146304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风险</a:t>
            </a:r>
            <a:endParaRPr lang="zh-CN" sz="900"/>
          </a:p>
        </p:txBody>
      </p:sp>
      <p:sp>
        <p:nvSpPr>
          <p:cNvPr id="12" name="rect"/>
          <p:cNvSpPr/>
          <p:nvPr/>
        </p:nvSpPr>
        <p:spPr>
          <a:xfrm>
            <a:off x="3977639" y="1417320"/>
            <a:ext cx="6858000" cy="502920"/>
          </a:xfrm>
          <a:prstGeom prst="rect">
            <a:avLst/>
          </a:prstGeom>
          <a:solidFill>
            <a:srgbClr val="273D63"/>
          </a:solidFill>
          <a:ln w="12700">
            <a:solidFill>
              <a:srgbClr val="385C8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014215" y="146304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应对策略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777240" y="1920240"/>
            <a:ext cx="32004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813816" y="196596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平台目标过大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3977639" y="1920240"/>
            <a:ext cx="68580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4014215" y="196596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分阶段建设，先完成核心闭环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777240" y="2423160"/>
            <a:ext cx="32004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13816" y="246888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视频质量不稳定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3977639" y="2423160"/>
            <a:ext cx="68580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4014215" y="246888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多版本生成 + 人工审核 + 重生成</a:t>
            </a:r>
            <a:endParaRPr lang="zh-CN" sz="800"/>
          </a:p>
        </p:txBody>
      </p:sp>
      <p:sp>
        <p:nvSpPr>
          <p:cNvPr id="22" name="rect"/>
          <p:cNvSpPr/>
          <p:nvPr/>
        </p:nvSpPr>
        <p:spPr>
          <a:xfrm>
            <a:off x="777240" y="2926080"/>
            <a:ext cx="32004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13816" y="297180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角色一致性不足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3977639" y="2926080"/>
            <a:ext cx="68580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4014215" y="297180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角色卡 + 参考图 + 提示词模板</a:t>
            </a:r>
            <a:endParaRPr lang="zh-CN" sz="800"/>
          </a:p>
        </p:txBody>
      </p:sp>
      <p:sp>
        <p:nvSpPr>
          <p:cNvPr id="26" name="rect"/>
          <p:cNvSpPr/>
          <p:nvPr/>
        </p:nvSpPr>
        <p:spPr>
          <a:xfrm>
            <a:off x="777240" y="3429000"/>
            <a:ext cx="32004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813816" y="347472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场景漂移 / 风格不统一</a:t>
            </a:r>
            <a:endParaRPr lang="zh-CN" sz="900"/>
          </a:p>
        </p:txBody>
      </p:sp>
      <p:sp>
        <p:nvSpPr>
          <p:cNvPr id="28" name="rect"/>
          <p:cNvSpPr/>
          <p:nvPr/>
        </p:nvSpPr>
        <p:spPr>
          <a:xfrm>
            <a:off x="3977639" y="3429000"/>
            <a:ext cx="68580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4014215" y="347472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场景卡、风格卡、不可变元素、负向提示词</a:t>
            </a:r>
            <a:endParaRPr lang="zh-CN" sz="800"/>
          </a:p>
        </p:txBody>
      </p:sp>
      <p:sp>
        <p:nvSpPr>
          <p:cNvPr id="30" name="rect"/>
          <p:cNvSpPr/>
          <p:nvPr/>
        </p:nvSpPr>
        <p:spPr>
          <a:xfrm>
            <a:off x="777240" y="3931920"/>
            <a:ext cx="32004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13816" y="3977639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成本不可控</a:t>
            </a:r>
            <a:endParaRPr lang="zh-CN" sz="900"/>
          </a:p>
        </p:txBody>
      </p:sp>
      <p:sp>
        <p:nvSpPr>
          <p:cNvPr id="32" name="rect"/>
          <p:cNvSpPr/>
          <p:nvPr/>
        </p:nvSpPr>
        <p:spPr>
          <a:xfrm>
            <a:off x="3977639" y="3931920"/>
            <a:ext cx="6858000" cy="502920"/>
          </a:xfrm>
          <a:prstGeom prst="rect">
            <a:avLst/>
          </a:prstGeom>
          <a:solidFill>
            <a:srgbClr val="16233A"/>
          </a:solidFill>
          <a:ln w="12700">
            <a:solidFill>
              <a:srgbClr val="385C8C"/>
            </a:solidFill>
          </a:ln>
        </p:spPr>
      </p:sp>
      <p:sp>
        <p:nvSpPr>
          <p:cNvPr id="33" name="text"/>
          <p:cNvSpPr txBox="1"/>
          <p:nvPr/>
        </p:nvSpPr>
        <p:spPr>
          <a:xfrm>
            <a:off x="4014215" y="3977639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8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DDE7FF"/>
                </a:solidFill>
                <a:latin typeface="Microsoft YaHei"/>
                <a:ea typeface="Microsoft YaHei"/>
              </a:rPr>
              <a:t>模型成本记录 + 任务级统计 + 预算预警</a:t>
            </a:r>
            <a:endParaRPr lang="zh-CN" sz="800"/>
          </a:p>
        </p:txBody>
      </p:sp>
      <p:sp>
        <p:nvSpPr>
          <p:cNvPr id="34" name="rect"/>
          <p:cNvSpPr/>
          <p:nvPr/>
        </p:nvSpPr>
        <p:spPr>
          <a:xfrm>
            <a:off x="777240" y="4434840"/>
            <a:ext cx="32004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13816" y="448056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模型变化快</a:t>
            </a:r>
            <a:endParaRPr lang="zh-CN" sz="900"/>
          </a:p>
        </p:txBody>
      </p:sp>
      <p:sp>
        <p:nvSpPr>
          <p:cNvPr id="36" name="rect"/>
          <p:cNvSpPr/>
          <p:nvPr/>
        </p:nvSpPr>
        <p:spPr>
          <a:xfrm>
            <a:off x="3977639" y="4434840"/>
            <a:ext cx="6858000" cy="502920"/>
          </a:xfrm>
          <a:prstGeom prst="rect">
            <a:avLst/>
          </a:prstGeom>
          <a:solidFill>
            <a:srgbClr val="1D2D49"/>
          </a:solidFill>
          <a:ln w="12700">
            <a:solidFill>
              <a:srgbClr val="385C8C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4014215" y="4480560"/>
            <a:ext cx="6784848" cy="429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900" b="0">
                <a:solidFill>
                  <a:srgbClr val="DDE7FF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DDE7FF"/>
                </a:solidFill>
                <a:latin typeface="Microsoft YaHei"/>
                <a:ea typeface="Microsoft YaHei"/>
              </a:rPr>
              <a:t>模型适配层，底层模型可替换</a:t>
            </a:r>
            <a:endParaRPr lang="zh-CN" sz="900"/>
          </a:p>
        </p:txBody>
      </p:sp>
      <p:sp>
        <p:nvSpPr>
          <p:cNvPr id="38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39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20</a:t>
            </a:r>
            <a:endParaRPr lang="zh-CN"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本次需要管理层确认三件事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建议启动第一阶段，用 1-2 个内容样例验证核心闭环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21</a:t>
            </a:r>
            <a:endParaRPr lang="zh-CN" sz="1300"/>
          </a:p>
        </p:txBody>
      </p:sp>
      <p:sp>
        <p:nvSpPr>
          <p:cNvPr id="10" name="rect"/>
          <p:cNvSpPr/>
          <p:nvPr/>
        </p:nvSpPr>
        <p:spPr>
          <a:xfrm>
            <a:off x="685800" y="1325880"/>
            <a:ext cx="3456432" cy="1143000"/>
          </a:xfrm>
          <a:prstGeom prst="roundRect">
            <a:avLst/>
          </a:prstGeom>
          <a:solidFill>
            <a:srgbClr val="1F4B60"/>
          </a:solidFill>
          <a:ln w="12700">
            <a:solidFill>
              <a:srgbClr val="456A9C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795528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1</a:t>
            </a:r>
            <a:endParaRPr lang="zh-CN" sz="2200"/>
          </a:p>
        </p:txBody>
      </p:sp>
      <p:sp>
        <p:nvSpPr>
          <p:cNvPr id="12" name="text"/>
          <p:cNvSpPr txBox="1"/>
          <p:nvPr/>
        </p:nvSpPr>
        <p:spPr>
          <a:xfrm>
            <a:off x="1307592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是否立项</a:t>
            </a:r>
            <a:endParaRPr lang="zh-CN" sz="1300"/>
          </a:p>
        </p:txBody>
      </p:sp>
      <p:sp>
        <p:nvSpPr>
          <p:cNvPr id="13" name="text"/>
          <p:cNvSpPr txBox="1"/>
          <p:nvPr/>
        </p:nvSpPr>
        <p:spPr>
          <a:xfrm>
            <a:off x="850392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批准第一阶段核心闭环原型建设</a:t>
            </a:r>
            <a:endParaRPr lang="zh-CN" sz="900"/>
          </a:p>
        </p:txBody>
      </p:sp>
      <p:sp>
        <p:nvSpPr>
          <p:cNvPr id="14" name="rect"/>
          <p:cNvSpPr/>
          <p:nvPr/>
        </p:nvSpPr>
        <p:spPr>
          <a:xfrm>
            <a:off x="4398264" y="1325880"/>
            <a:ext cx="3456432" cy="1143000"/>
          </a:xfrm>
          <a:prstGeom prst="roundRect">
            <a:avLst/>
          </a:prstGeom>
          <a:solidFill>
            <a:srgbClr val="243A65"/>
          </a:solidFill>
          <a:ln w="12700">
            <a:solidFill>
              <a:srgbClr val="456A9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07992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2</a:t>
            </a:r>
            <a:endParaRPr lang="zh-CN" sz="2200"/>
          </a:p>
        </p:txBody>
      </p:sp>
      <p:sp>
        <p:nvSpPr>
          <p:cNvPr id="16" name="text"/>
          <p:cNvSpPr txBox="1"/>
          <p:nvPr/>
        </p:nvSpPr>
        <p:spPr>
          <a:xfrm>
            <a:off x="5020055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资源投入</a:t>
            </a:r>
            <a:endParaRPr lang="zh-CN" sz="1300"/>
          </a:p>
        </p:txBody>
      </p:sp>
      <p:sp>
        <p:nvSpPr>
          <p:cNvPr id="17" name="text"/>
          <p:cNvSpPr txBox="1"/>
          <p:nvPr/>
        </p:nvSpPr>
        <p:spPr>
          <a:xfrm>
            <a:off x="4562855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确认预算、周期和团队投入</a:t>
            </a:r>
            <a:endParaRPr lang="zh-CN" sz="900"/>
          </a:p>
        </p:txBody>
      </p:sp>
      <p:sp>
        <p:nvSpPr>
          <p:cNvPr id="18" name="rect"/>
          <p:cNvSpPr/>
          <p:nvPr/>
        </p:nvSpPr>
        <p:spPr>
          <a:xfrm>
            <a:off x="8110727" y="1325880"/>
            <a:ext cx="3456432" cy="1143000"/>
          </a:xfrm>
          <a:prstGeom prst="roundRect">
            <a:avLst/>
          </a:prstGeom>
          <a:solidFill>
            <a:srgbClr val="294477"/>
          </a:solidFill>
          <a:ln w="12700">
            <a:solidFill>
              <a:srgbClr val="456A9C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20455" y="14173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3</a:t>
            </a:r>
            <a:endParaRPr lang="zh-CN" sz="2200"/>
          </a:p>
        </p:txBody>
      </p:sp>
      <p:sp>
        <p:nvSpPr>
          <p:cNvPr id="20" name="text"/>
          <p:cNvSpPr txBox="1"/>
          <p:nvPr/>
        </p:nvSpPr>
        <p:spPr>
          <a:xfrm>
            <a:off x="8732519" y="1435607"/>
            <a:ext cx="270662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试点方向</a:t>
            </a:r>
            <a:endParaRPr lang="zh-CN" sz="1300"/>
          </a:p>
        </p:txBody>
      </p:sp>
      <p:sp>
        <p:nvSpPr>
          <p:cNvPr id="21" name="text"/>
          <p:cNvSpPr txBox="1"/>
          <p:nvPr/>
        </p:nvSpPr>
        <p:spPr>
          <a:xfrm>
            <a:off x="8275319" y="1828800"/>
            <a:ext cx="3127248" cy="5212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确定内容样例与模型供应商接入方案</a:t>
            </a:r>
            <a:endParaRPr lang="zh-CN" sz="900"/>
          </a:p>
        </p:txBody>
      </p:sp>
      <p:sp>
        <p:nvSpPr>
          <p:cNvPr id="22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23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21</a:t>
            </a:r>
            <a:endParaRPr lang="zh-CN" sz="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020"/>
          </a:solidFill>
          <a:ln>
            <a:noFill/>
          </a:ln>
        </p:spPr>
      </p:sp>
      <p:sp>
        <p:nvSpPr>
          <p:cNvPr id="4" name="top-accent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4B7BFF"/>
          </a:solidFill>
          <a:ln>
            <a:noFill/>
          </a:ln>
        </p:spPr>
      </p:sp>
      <p:sp>
        <p:nvSpPr>
          <p:cNvPr id="5" name="glow-1"/>
          <p:cNvSpPr/>
          <p:nvPr/>
        </p:nvSpPr>
        <p:spPr>
          <a:xfrm>
            <a:off x="9784080" y="-228600"/>
            <a:ext cx="2743200" cy="1188720"/>
          </a:xfrm>
          <a:prstGeom prst="roundRect">
            <a:avLst/>
          </a:prstGeom>
          <a:solidFill>
            <a:srgbClr val="6C3BFF">
              <a:alpha val="45000"/>
            </a:srgbClr>
          </a:solidFill>
          <a:ln>
            <a:noFill/>
          </a:ln>
        </p:spPr>
      </p:sp>
      <p:sp>
        <p:nvSpPr>
          <p:cNvPr id="6" name="glow-2"/>
          <p:cNvSpPr/>
          <p:nvPr/>
        </p:nvSpPr>
        <p:spPr>
          <a:xfrm>
            <a:off x="-640080" y="5852160"/>
            <a:ext cx="3200400" cy="914400"/>
          </a:xfrm>
          <a:prstGeom prst="roundRect">
            <a:avLst/>
          </a:prstGeom>
          <a:solidFill>
            <a:srgbClr val="00D4FF">
              <a:alpha val="25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02920" y="29260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600" b="1">
                <a:solidFill>
                  <a:srgbClr val="FFFFFF"/>
                </a:solidFill>
                <a:latin typeface="Microsoft YaHei"/>
                <a:ea typeface="Microsoft YaHei"/>
              </a:rPr>
              <a:t>AI 内容工业化平台：先建立流程，再放大产能</a:t>
            </a:r>
            <a:endParaRPr lang="zh-CN" sz="2600"/>
          </a:p>
        </p:txBody>
      </p:sp>
      <p:sp>
        <p:nvSpPr>
          <p:cNvPr id="8" name="text"/>
          <p:cNvSpPr txBox="1"/>
          <p:nvPr/>
        </p:nvSpPr>
        <p:spPr>
          <a:xfrm>
            <a:off x="54864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100" b="0">
                <a:solidFill>
                  <a:srgbClr val="A9B8D8"/>
                </a:solidFill>
                <a:latin typeface="Microsoft YaHei"/>
                <a:ea typeface="Microsoft YaHei"/>
              </a:defRPr>
            </a:pPr>
            <a:r>
              <a:rPr lang="zh-CN" sz="1100" b="0">
                <a:solidFill>
                  <a:srgbClr val="A9B8D8"/>
                </a:solidFill>
                <a:latin typeface="Microsoft YaHei"/>
                <a:ea typeface="Microsoft YaHei"/>
              </a:rPr>
              <a:t>结束语：这不是一次工具采购，而是面向未来内容生产方式的基础设施建设</a:t>
            </a:r>
            <a:endParaRPr lang="zh-CN" sz="1100"/>
          </a:p>
        </p:txBody>
      </p:sp>
      <p:sp>
        <p:nvSpPr>
          <p:cNvPr id="9" name="text"/>
          <p:cNvSpPr txBox="1"/>
          <p:nvPr/>
        </p:nvSpPr>
        <p:spPr>
          <a:xfrm>
            <a:off x="10744200" y="347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13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80E8FF"/>
                </a:solidFill>
                <a:latin typeface="Microsoft YaHei"/>
                <a:ea typeface="Microsoft YaHei"/>
              </a:rPr>
              <a:t>22</a:t>
            </a:r>
            <a:endParaRPr lang="zh-CN" sz="1300"/>
          </a:p>
        </p:txBody>
      </p:sp>
      <p:sp>
        <p:nvSpPr>
          <p:cNvPr id="10" name="text"/>
          <p:cNvSpPr txBox="1"/>
          <p:nvPr/>
        </p:nvSpPr>
        <p:spPr>
          <a:xfrm>
            <a:off x="1005840" y="160020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8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2800" b="1">
                <a:solidFill>
                  <a:srgbClr val="FFFFFF"/>
                </a:solidFill>
                <a:latin typeface="Microsoft YaHei"/>
                <a:ea typeface="Microsoft YaHei"/>
              </a:rPr>
              <a:t>从 AI 工具使用，走向 AI 内容工业化生产</a:t>
            </a:r>
            <a:endParaRPr lang="zh-CN" sz="2800"/>
          </a:p>
        </p:txBody>
      </p:sp>
      <p:sp>
        <p:nvSpPr>
          <p:cNvPr id="11" name="text"/>
          <p:cNvSpPr txBox="1"/>
          <p:nvPr/>
        </p:nvSpPr>
        <p:spPr>
          <a:xfrm>
            <a:off x="1280160" y="2743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17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1700" b="1">
                <a:solidFill>
                  <a:srgbClr val="80E8FF"/>
                </a:solidFill>
                <a:latin typeface="Microsoft YaHei"/>
                <a:ea typeface="Microsoft YaHei"/>
              </a:rPr>
              <a:t>建议从核心闭环开始，把公司内容生产经验沉淀为标准化流程和可复用资产。</a:t>
            </a:r>
            <a:endParaRPr lang="zh-CN" sz="1700"/>
          </a:p>
        </p:txBody>
      </p:sp>
      <p:sp>
        <p:nvSpPr>
          <p:cNvPr id="12" name="rect"/>
          <p:cNvSpPr/>
          <p:nvPr/>
        </p:nvSpPr>
        <p:spPr>
          <a:xfrm>
            <a:off x="1005840" y="4069080"/>
            <a:ext cx="2240280" cy="868680"/>
          </a:xfrm>
          <a:prstGeom prst="roundRect">
            <a:avLst/>
          </a:prstGeom>
          <a:solidFill>
            <a:srgbClr val="1F3B61"/>
          </a:solidFill>
          <a:ln w="12700">
            <a:solidFill>
              <a:srgbClr val="456A9C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1115568" y="4160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1</a:t>
            </a:r>
            <a:endParaRPr lang="zh-CN" sz="2200"/>
          </a:p>
        </p:txBody>
      </p:sp>
      <p:sp>
        <p:nvSpPr>
          <p:cNvPr id="14" name="text"/>
          <p:cNvSpPr txBox="1"/>
          <p:nvPr/>
        </p:nvSpPr>
        <p:spPr>
          <a:xfrm>
            <a:off x="1627632" y="4178808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确认立项</a:t>
            </a:r>
            <a:endParaRPr lang="zh-CN" sz="1300"/>
          </a:p>
        </p:txBody>
      </p:sp>
      <p:sp>
        <p:nvSpPr>
          <p:cNvPr id="15" name="text"/>
          <p:cNvSpPr txBox="1"/>
          <p:nvPr/>
        </p:nvSpPr>
        <p:spPr>
          <a:xfrm>
            <a:off x="1170432" y="4572000"/>
            <a:ext cx="1911096" cy="246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下一步行动</a:t>
            </a:r>
            <a:endParaRPr lang="zh-CN" sz="900"/>
          </a:p>
        </p:txBody>
      </p:sp>
      <p:sp>
        <p:nvSpPr>
          <p:cNvPr id="16" name="rect"/>
          <p:cNvSpPr/>
          <p:nvPr/>
        </p:nvSpPr>
        <p:spPr>
          <a:xfrm>
            <a:off x="3749039" y="4069080"/>
            <a:ext cx="2240280" cy="868680"/>
          </a:xfrm>
          <a:prstGeom prst="roundRect">
            <a:avLst/>
          </a:prstGeom>
          <a:solidFill>
            <a:srgbClr val="1F3B61"/>
          </a:solidFill>
          <a:ln w="12700">
            <a:solidFill>
              <a:srgbClr val="456A9C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3858768" y="4160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2</a:t>
            </a:r>
            <a:endParaRPr lang="zh-CN" sz="2200"/>
          </a:p>
        </p:txBody>
      </p:sp>
      <p:sp>
        <p:nvSpPr>
          <p:cNvPr id="18" name="text"/>
          <p:cNvSpPr txBox="1"/>
          <p:nvPr/>
        </p:nvSpPr>
        <p:spPr>
          <a:xfrm>
            <a:off x="4370831" y="4178808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确认试点内容</a:t>
            </a:r>
            <a:endParaRPr lang="zh-CN" sz="1300"/>
          </a:p>
        </p:txBody>
      </p:sp>
      <p:sp>
        <p:nvSpPr>
          <p:cNvPr id="19" name="text"/>
          <p:cNvSpPr txBox="1"/>
          <p:nvPr/>
        </p:nvSpPr>
        <p:spPr>
          <a:xfrm>
            <a:off x="3913631" y="4572000"/>
            <a:ext cx="1911096" cy="246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下一步行动</a:t>
            </a:r>
            <a:endParaRPr lang="zh-CN" sz="900"/>
          </a:p>
        </p:txBody>
      </p:sp>
      <p:sp>
        <p:nvSpPr>
          <p:cNvPr id="20" name="rect"/>
          <p:cNvSpPr/>
          <p:nvPr/>
        </p:nvSpPr>
        <p:spPr>
          <a:xfrm>
            <a:off x="6492240" y="4069080"/>
            <a:ext cx="2240280" cy="868680"/>
          </a:xfrm>
          <a:prstGeom prst="roundRect">
            <a:avLst/>
          </a:prstGeom>
          <a:solidFill>
            <a:srgbClr val="1F3B61"/>
          </a:solidFill>
          <a:ln w="12700">
            <a:solidFill>
              <a:srgbClr val="456A9C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601968" y="4160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3</a:t>
            </a:r>
            <a:endParaRPr lang="zh-CN" sz="2200"/>
          </a:p>
        </p:txBody>
      </p:sp>
      <p:sp>
        <p:nvSpPr>
          <p:cNvPr id="22" name="text"/>
          <p:cNvSpPr txBox="1"/>
          <p:nvPr/>
        </p:nvSpPr>
        <p:spPr>
          <a:xfrm>
            <a:off x="7114031" y="4178808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确认模型接入</a:t>
            </a:r>
            <a:endParaRPr lang="zh-CN" sz="1300"/>
          </a:p>
        </p:txBody>
      </p:sp>
      <p:sp>
        <p:nvSpPr>
          <p:cNvPr id="23" name="text"/>
          <p:cNvSpPr txBox="1"/>
          <p:nvPr/>
        </p:nvSpPr>
        <p:spPr>
          <a:xfrm>
            <a:off x="6656831" y="4572000"/>
            <a:ext cx="1911096" cy="246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下一步行动</a:t>
            </a:r>
            <a:endParaRPr lang="zh-CN" sz="900"/>
          </a:p>
        </p:txBody>
      </p:sp>
      <p:sp>
        <p:nvSpPr>
          <p:cNvPr id="24" name="rect"/>
          <p:cNvSpPr/>
          <p:nvPr/>
        </p:nvSpPr>
        <p:spPr>
          <a:xfrm>
            <a:off x="9235440" y="4069080"/>
            <a:ext cx="2240280" cy="868680"/>
          </a:xfrm>
          <a:prstGeom prst="roundRect">
            <a:avLst/>
          </a:prstGeom>
          <a:solidFill>
            <a:srgbClr val="1F3B61"/>
          </a:solidFill>
          <a:ln w="12700">
            <a:solidFill>
              <a:srgbClr val="456A9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9345167" y="416052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">
              <a:defRPr sz="2200" b="1">
                <a:solidFill>
                  <a:srgbClr val="80E8FF"/>
                </a:solidFill>
                <a:latin typeface="Microsoft YaHei"/>
                <a:ea typeface="Microsoft YaHei"/>
              </a:defRPr>
            </a:pPr>
            <a:r>
              <a:rPr lang="zh-CN" sz="2200" b="1">
                <a:solidFill>
                  <a:srgbClr val="80E8FF"/>
                </a:solidFill>
                <a:latin typeface="Microsoft YaHei"/>
                <a:ea typeface="Microsoft YaHei"/>
              </a:rPr>
              <a:t>4</a:t>
            </a:r>
            <a:endParaRPr lang="zh-CN" sz="2200"/>
          </a:p>
        </p:txBody>
      </p:sp>
      <p:sp>
        <p:nvSpPr>
          <p:cNvPr id="26" name="text"/>
          <p:cNvSpPr txBox="1"/>
          <p:nvPr/>
        </p:nvSpPr>
        <p:spPr>
          <a:xfrm>
            <a:off x="9857232" y="4178808"/>
            <a:ext cx="1490472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启动 8-12 周原型建设</a:t>
            </a:r>
            <a:endParaRPr lang="zh-CN" sz="1300"/>
          </a:p>
        </p:txBody>
      </p:sp>
      <p:sp>
        <p:nvSpPr>
          <p:cNvPr id="27" name="text"/>
          <p:cNvSpPr txBox="1"/>
          <p:nvPr/>
        </p:nvSpPr>
        <p:spPr>
          <a:xfrm>
            <a:off x="9400032" y="4572000"/>
            <a:ext cx="1911096" cy="2468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900" b="0">
                <a:solidFill>
                  <a:srgbClr val="C7D2EE"/>
                </a:solidFill>
                <a:latin typeface="Microsoft YaHei"/>
                <a:ea typeface="Microsoft YaHei"/>
              </a:defRPr>
            </a:pPr>
            <a:r>
              <a:rPr lang="zh-CN" sz="900" b="0">
                <a:solidFill>
                  <a:srgbClr val="C7D2EE"/>
                </a:solidFill>
                <a:latin typeface="Microsoft YaHei"/>
                <a:ea typeface="Microsoft YaHei"/>
              </a:rPr>
              <a:t>下一步行动</a:t>
            </a:r>
            <a:endParaRPr lang="zh-CN" sz="900"/>
          </a:p>
        </p:txBody>
      </p:sp>
      <p:sp>
        <p:nvSpPr>
          <p:cNvPr id="28" name="text"/>
          <p:cNvSpPr txBox="1"/>
          <p:nvPr/>
        </p:nvSpPr>
        <p:spPr>
          <a:xfrm>
            <a:off x="502920" y="6419088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l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AI 内容工业化平台建设方案</a:t>
            </a:r>
            <a:endParaRPr lang="zh-CN" sz="800"/>
          </a:p>
        </p:txBody>
      </p:sp>
      <p:sp>
        <p:nvSpPr>
          <p:cNvPr id="29" name="text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r">
              <a:defRPr sz="800" b="0">
                <a:solidFill>
                  <a:srgbClr val="6F7F9E"/>
                </a:solidFill>
                <a:latin typeface="Microsoft YaHei"/>
                <a:ea typeface="Microsoft YaHei"/>
              </a:defRPr>
            </a:pPr>
            <a:r>
              <a:rPr lang="zh-CN" sz="800" b="0">
                <a:solidFill>
                  <a:srgbClr val="6F7F9E"/>
                </a:solidFill>
                <a:latin typeface="Microsoft YaHei"/>
                <a:ea typeface="Microsoft YaHei"/>
              </a:rPr>
              <a:t>22</a:t>
            </a:r>
            <a:endParaRPr lang="zh-CN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inema">
  <a:themeElements>
    <a:clrScheme name="AI">
      <a:dk1>
        <a:srgbClr val="0B1020"/>
      </a:dk1>
      <a:lt1>
        <a:srgbClr val="FFFFFF"/>
      </a:lt1>
      <a:dk2>
        <a:srgbClr val="1D2D49"/>
      </a:dk2>
      <a:lt2>
        <a:srgbClr val="C7D2EE"/>
      </a:lt2>
      <a:accent1>
        <a:srgbClr val="4B7BFF"/>
      </a:accent1>
      <a:accent2>
        <a:srgbClr val="00D4FF"/>
      </a:accent2>
      <a:accent3>
        <a:srgbClr val="6C3BFF"/>
      </a:accent3>
      <a:accent4>
        <a:srgbClr val="28D17C"/>
      </a:accent4>
      <a:accent5>
        <a:srgbClr val="FFB84D"/>
      </a:accent5>
      <a:accent6>
        <a:srgbClr val="FF5C7A"/>
      </a:accent6>
      <a:hlink>
        <a:srgbClr val="80E8FF"/>
      </a:hlink>
      <a:folHlink>
        <a:srgbClr val="A78BFA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Defaul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